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de synthèse à lire en 10 secondes. Annoncer que les slides suivants détaillent chaque levier avec les chiffres. Insister : ce sont des faits tirés des données 2011, pas des projections.</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Présenter chaque action en une phrase. Priorité 1 et 2 sont des risques immédiats. Priorités 3-5 sont des investigations à mener sur l'année à venir.</a:t>
            </a:r>
            <a:endParaRPr/>
          </a:p>
        </p:txBody>
      </p:sp>
      <p:sp>
        <p:nvSpPr>
          <p:cNvPr id="46" name="Google Shape;4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 REGENCY CAKESTAND est n°1 en CA grâce au volume de commandes , pas à un prix élevé. Son taux d'annulation à 8,22% est le plus haut des 20 premiers. </a:t>
            </a:r>
            <a:endParaRPr/>
          </a:p>
          <a:p>
            <a:pPr indent="0" lvl="0" marL="0" rtl="0" algn="l">
              <a:spcBef>
                <a:spcPts val="0"/>
              </a:spcBef>
              <a:spcAft>
                <a:spcPts val="0"/>
              </a:spcAft>
              <a:buNone/>
            </a:pPr>
            <a:r>
              <a:rPr lang="en-US"/>
              <a:t>Sans investigation sur la cause, le risque reste non géré. </a:t>
            </a:r>
            <a:endParaRPr/>
          </a:p>
          <a:p>
            <a:pPr indent="0" lvl="0" marL="0" rtl="0" algn="l">
              <a:spcBef>
                <a:spcPts val="0"/>
              </a:spcBef>
              <a:spcAft>
                <a:spcPts val="0"/>
              </a:spcAft>
              <a:buNone/>
            </a:pPr>
            <a:r>
              <a:rPr lang="en-US"/>
              <a:t>Le PICNIC BASKET : 2 transactions d'un seul client (1 unité test, puis 60 unités à 649£). Profil revendeur. Si ce profil existe ailleurs dans le marché, le potentiel est réel.</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d777481a2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3ed777481a2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Ce graphe montre que vos produits les plus rentables ne sont pas vos produits les plus chers. Si le CA est élevé mais la dépense moyenne est faible, c'est que ce produit est commandé très souvent. C'est la fréquence qui fait le CA, pas le prix unitaire.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Sauf PICNIC BASKET : valeur unitaire élevée, très peu commandé, et pourtant il performe. C'est un profil différent qui mérite une investigation séparée. </a:t>
            </a:r>
            <a:endParaRPr/>
          </a:p>
        </p:txBody>
      </p:sp>
      <p:sp>
        <p:nvSpPr>
          <p:cNvPr id="78" name="Google Shape;78;g3ed777481a2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Les clients Unknown génèrent le plus de CA et annulent le moins (0,12%)., ce segment est le plus actif et le moins risqué</a:t>
            </a:r>
            <a:endParaRPr/>
          </a:p>
        </p:txBody>
      </p:sp>
      <p:sp>
        <p:nvSpPr>
          <p:cNvPr id="90" name="Google Shape;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d777481a2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g3ed777481a2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UK est à 17% — ce qui veut dire que 17% de votre CA britannique vient de clients  que vous ne connaissez pas. Sur les autres marchés, c'est encore plus marqué. Hong Kong est le cas extrême. </a:t>
            </a:r>
            <a:endParaRPr/>
          </a:p>
          <a:p>
            <a:pPr indent="0" lvl="0" marL="0" rtl="0" algn="l">
              <a:spcBef>
                <a:spcPts val="0"/>
              </a:spcBef>
              <a:spcAft>
                <a:spcPts val="0"/>
              </a:spcAft>
              <a:buNone/>
            </a:pPr>
            <a:r>
              <a:rPr lang="en-US"/>
              <a:t> Hong kong : 100% du CA provient des client inconnus</a:t>
            </a:r>
            <a:endParaRPr/>
          </a:p>
          <a:p>
            <a:pPr indent="0" lvl="0" marL="0" rtl="0" algn="l">
              <a:spcBef>
                <a:spcPts val="0"/>
              </a:spcBef>
              <a:spcAft>
                <a:spcPts val="0"/>
              </a:spcAft>
              <a:buClr>
                <a:srgbClr val="000000"/>
              </a:buClr>
              <a:buFont typeface="Arial"/>
              <a:buNone/>
            </a:pPr>
            <a:r>
              <a:rPr lang="en-US"/>
              <a:t>c'est un profil atypique, non identifié, à fort volume: potentiellement un revendeur </a:t>
            </a:r>
            <a:endParaRPr/>
          </a:p>
        </p:txBody>
      </p:sp>
      <p:sp>
        <p:nvSpPr>
          <p:cNvPr id="103" name="Google Shape;103;g3ed777481a2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84,7% sur un seul marché est un risque de concentration élevé.</a:t>
            </a:r>
            <a:endParaRPr/>
          </a:p>
          <a:p>
            <a:pPr indent="0" lvl="0" marL="0" rtl="0" algn="l">
              <a:spcBef>
                <a:spcPts val="0"/>
              </a:spcBef>
              <a:spcAft>
                <a:spcPts val="0"/>
              </a:spcAft>
              <a:buNone/>
            </a:pPr>
            <a:r>
              <a:rPr lang="en-US"/>
              <a:t>mais si un jours, les ventes britanniques s’effondrent, soudainement sur qui rebondir ?</a:t>
            </a:r>
            <a:endParaRPr/>
          </a:p>
          <a:p>
            <a:pPr indent="0" lvl="0" marL="0" rtl="0" algn="l">
              <a:spcBef>
                <a:spcPts val="0"/>
              </a:spcBef>
              <a:spcAft>
                <a:spcPts val="0"/>
              </a:spcAft>
              <a:buNone/>
            </a:pPr>
            <a:r>
              <a:rPr lang="en-US"/>
              <a:t>expansion internationale ou marché locale ? vous pouvez vous étendre sur les 3 autres marchés qui performent mieux apres UK.</a:t>
            </a:r>
            <a:endParaRPr/>
          </a:p>
          <a:p>
            <a:pPr indent="0" lvl="0" marL="0" rtl="0" algn="l">
              <a:spcBef>
                <a:spcPts val="0"/>
              </a:spcBef>
              <a:spcAft>
                <a:spcPts val="0"/>
              </a:spcAft>
              <a:buNone/>
            </a:pPr>
            <a:r>
              <a:rPr lang="en-US"/>
              <a:t>mais cet expansion, n’est pas aussi sans risque : ⚠️ Exemple à éviter : USA : CA marginal, 38% de taux d'annulation </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Données 2011 uniquement — on ne peut pas qualifier ce profil de saisonnier récurrent. Les décembres sont tronqués (2010 : 23 jours, 2011 : 8 jours) donc exclus de la comparaison. </a:t>
            </a:r>
            <a:endParaRPr/>
          </a:p>
          <a:p>
            <a:pPr indent="0" lvl="0" marL="0" rtl="0" algn="l">
              <a:spcBef>
                <a:spcPts val="0"/>
              </a:spcBef>
              <a:spcAft>
                <a:spcPts val="0"/>
              </a:spcAft>
              <a:buNone/>
            </a:pPr>
            <a:r>
              <a:rPr lang="en-US"/>
              <a:t>les périodes de fin d’années sont les plus lucratives, mais le creux de début d’année ( janvier - avril) reste inexplqué : qui commandent en début d’année et pourquoi leur </a:t>
            </a:r>
            <a:r>
              <a:rPr lang="en-US"/>
              <a:t>comportement</a:t>
            </a:r>
            <a:r>
              <a:rPr lang="en-US"/>
              <a:t> différent-il de la période précédentes ?</a:t>
            </a:r>
            <a:endParaRPr/>
          </a:p>
        </p:txBody>
      </p:sp>
      <p:sp>
        <p:nvSpPr>
          <p:cNvPr id="134" name="Google Shape;13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Cette slide protège la crédibilité de l'analyse. Présenter les limites avant les questions du client montre une rigueur analytique. Ne jamais présenter la saisonnalité comme un fait établi avec une seule année de données.</a:t>
            </a:r>
            <a:endParaRPr/>
          </a:p>
        </p:txBody>
      </p:sp>
      <p:sp>
        <p:nvSpPr>
          <p:cNvPr id="153" name="Google Shape;15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de clôture. La question géographique est la porte d'entrée pour la suite de la relation consultant. Cette décision conditionne la stratégie produit, client et marketing pour l'année à venir.</a:t>
            </a:r>
            <a:endParaRPr/>
          </a:p>
        </p:txBody>
      </p:sp>
      <p:sp>
        <p:nvSpPr>
          <p:cNvPr id="174" name="Google Shape;17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3"/>
          <p:cNvSpPr/>
          <p:nvPr/>
        </p:nvSpPr>
        <p:spPr>
          <a:xfrm>
            <a:off x="548640" y="1097280"/>
            <a:ext cx="804672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200"/>
              <a:buFont typeface="Cambria"/>
              <a:buNone/>
            </a:pPr>
            <a:r>
              <a:rPr b="1" i="0" lang="en-US" sz="4200" u="none" cap="none" strike="noStrike">
                <a:solidFill>
                  <a:srgbClr val="FFFFFF"/>
                </a:solidFill>
                <a:latin typeface="Cambria"/>
                <a:ea typeface="Cambria"/>
                <a:cs typeface="Cambria"/>
                <a:sym typeface="Cambria"/>
              </a:rPr>
              <a:t>E-Sales Boutique</a:t>
            </a:r>
            <a:endParaRPr b="0" i="0" sz="4200" u="none" cap="none" strike="noStrike">
              <a:solidFill>
                <a:schemeClr val="dk1"/>
              </a:solidFill>
              <a:latin typeface="Calibri"/>
              <a:ea typeface="Calibri"/>
              <a:cs typeface="Calibri"/>
              <a:sym typeface="Calibri"/>
            </a:endParaRPr>
          </a:p>
        </p:txBody>
      </p:sp>
      <p:sp>
        <p:nvSpPr>
          <p:cNvPr id="17" name="Google Shape;17;p3"/>
          <p:cNvSpPr/>
          <p:nvPr/>
        </p:nvSpPr>
        <p:spPr>
          <a:xfrm>
            <a:off x="548650" y="1965941"/>
            <a:ext cx="8046600" cy="106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2200"/>
              <a:buFont typeface="Calibri"/>
              <a:buNone/>
            </a:pPr>
            <a:r>
              <a:rPr b="0" i="0" lang="en-US" sz="2200" u="none" cap="none" strike="noStrike">
                <a:solidFill>
                  <a:srgbClr val="CADCFC"/>
                </a:solidFill>
                <a:latin typeface="Calibri"/>
                <a:ea typeface="Calibri"/>
                <a:cs typeface="Calibri"/>
                <a:sym typeface="Calibri"/>
              </a:rPr>
              <a:t>Analyse des facteurs de croissance du CA</a:t>
            </a:r>
            <a:endParaRPr b="0" i="0" sz="2200" u="none" cap="none" strike="noStrike">
              <a:solidFill>
                <a:srgbClr val="CADCFC"/>
              </a:solidFill>
              <a:latin typeface="Calibri"/>
              <a:ea typeface="Calibri"/>
              <a:cs typeface="Calibri"/>
              <a:sym typeface="Calibri"/>
            </a:endParaRPr>
          </a:p>
          <a:p>
            <a:pPr indent="0" lvl="0" marL="0" marR="0" rtl="0" algn="ctr">
              <a:spcBef>
                <a:spcPts val="0"/>
              </a:spcBef>
              <a:spcAft>
                <a:spcPts val="0"/>
              </a:spcAft>
              <a:buClr>
                <a:srgbClr val="CADCFC"/>
              </a:buClr>
              <a:buSzPts val="2200"/>
              <a:buFont typeface="Calibri"/>
              <a:buNone/>
            </a:pPr>
            <a:r>
              <a:rPr lang="en-US" sz="2200">
                <a:solidFill>
                  <a:srgbClr val="CADCFC"/>
                </a:solidFill>
                <a:latin typeface="Calibri"/>
                <a:ea typeface="Calibri"/>
                <a:cs typeface="Calibri"/>
                <a:sym typeface="Calibri"/>
              </a:rPr>
              <a:t>&amp;</a:t>
            </a:r>
            <a:endParaRPr sz="2200">
              <a:solidFill>
                <a:srgbClr val="CADCFC"/>
              </a:solidFill>
              <a:latin typeface="Calibri"/>
              <a:ea typeface="Calibri"/>
              <a:cs typeface="Calibri"/>
              <a:sym typeface="Calibri"/>
            </a:endParaRPr>
          </a:p>
          <a:p>
            <a:pPr indent="0" lvl="0" marL="0" rtl="0" algn="ctr">
              <a:spcBef>
                <a:spcPts val="0"/>
              </a:spcBef>
              <a:spcAft>
                <a:spcPts val="0"/>
              </a:spcAft>
              <a:buClr>
                <a:srgbClr val="CADCFC"/>
              </a:buClr>
              <a:buSzPts val="1600"/>
              <a:buFont typeface="Calibri"/>
              <a:buNone/>
            </a:pPr>
            <a:r>
              <a:rPr i="1" lang="en-US" sz="2000">
                <a:solidFill>
                  <a:srgbClr val="CADCFC"/>
                </a:solidFill>
                <a:latin typeface="Calibri"/>
                <a:ea typeface="Calibri"/>
                <a:cs typeface="Calibri"/>
                <a:sym typeface="Calibri"/>
              </a:rPr>
              <a:t>Stratégie pour l'année à venir</a:t>
            </a:r>
            <a:endParaRPr sz="2600">
              <a:solidFill>
                <a:srgbClr val="CADCFC"/>
              </a:solidFill>
              <a:latin typeface="Calibri"/>
              <a:ea typeface="Calibri"/>
              <a:cs typeface="Calibri"/>
              <a:sym typeface="Calibri"/>
            </a:endParaRPr>
          </a:p>
        </p:txBody>
      </p:sp>
      <p:sp>
        <p:nvSpPr>
          <p:cNvPr id="18" name="Google Shape;18;p3"/>
          <p:cNvSpPr/>
          <p:nvPr/>
        </p:nvSpPr>
        <p:spPr>
          <a:xfrm>
            <a:off x="3200400" y="3200400"/>
            <a:ext cx="2743200" cy="36576"/>
          </a:xfrm>
          <a:prstGeom prst="rect">
            <a:avLst/>
          </a:prstGeom>
          <a:solidFill>
            <a:srgbClr val="CADCFC"/>
          </a:solidFill>
          <a:ln cap="flat" cmpd="sng" w="1270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48640" y="4023360"/>
            <a:ext cx="80467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Rapport Consultant · Analyse 2011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4" name="Shape 24"/>
        <p:cNvGrpSpPr/>
        <p:nvPr/>
      </p:nvGrpSpPr>
      <p:grpSpPr>
        <a:xfrm>
          <a:off x="0" y="0"/>
          <a:ext cx="0" cy="0"/>
          <a:chOff x="0" y="0"/>
          <a:chExt cx="0" cy="0"/>
        </a:xfrm>
      </p:grpSpPr>
      <p:sp>
        <p:nvSpPr>
          <p:cNvPr id="25" name="Google Shape;25;p4"/>
          <p:cNvSpPr/>
          <p:nvPr/>
        </p:nvSpPr>
        <p:spPr>
          <a:xfrm>
            <a:off x="457200" y="256032"/>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Quatre facteurs portent votre chiffre d'affaires</a:t>
            </a:r>
            <a:endParaRPr b="0" i="0" sz="2800" u="none" cap="none" strike="noStrike">
              <a:solidFill>
                <a:schemeClr val="dk1"/>
              </a:solidFill>
              <a:latin typeface="Calibri"/>
              <a:ea typeface="Calibri"/>
              <a:cs typeface="Calibri"/>
              <a:sym typeface="Calibri"/>
            </a:endParaRPr>
          </a:p>
        </p:txBody>
      </p:sp>
      <p:sp>
        <p:nvSpPr>
          <p:cNvPr id="26" name="Google Shape;26;p4"/>
          <p:cNvSpPr/>
          <p:nvPr/>
        </p:nvSpPr>
        <p:spPr>
          <a:xfrm>
            <a:off x="457200" y="86868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Ce que révèle l'analyse de vos données 2011</a:t>
            </a:r>
            <a:endParaRPr b="0" i="0" sz="1300" u="none" cap="none" strike="noStrike">
              <a:solidFill>
                <a:schemeClr val="dk1"/>
              </a:solidFill>
              <a:latin typeface="Calibri"/>
              <a:ea typeface="Calibri"/>
              <a:cs typeface="Calibri"/>
              <a:sym typeface="Calibri"/>
            </a:endParaRPr>
          </a:p>
        </p:txBody>
      </p:sp>
      <p:sp>
        <p:nvSpPr>
          <p:cNvPr id="27" name="Google Shape;27;p4"/>
          <p:cNvSpPr/>
          <p:nvPr/>
        </p:nvSpPr>
        <p:spPr>
          <a:xfrm>
            <a:off x="457200" y="1371600"/>
            <a:ext cx="3931920" cy="1463040"/>
          </a:xfrm>
          <a:prstGeom prst="roundRect">
            <a:avLst>
              <a:gd fmla="val 6250" name="adj"/>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1371600" y="1508760"/>
            <a:ext cx="28346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Les périodes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de fin d'année</a:t>
            </a:r>
            <a:endParaRPr b="0" i="0" sz="1500" u="none" cap="none" strike="noStrike">
              <a:solidFill>
                <a:schemeClr val="dk1"/>
              </a:solidFill>
              <a:latin typeface="Calibri"/>
              <a:ea typeface="Calibri"/>
              <a:cs typeface="Calibri"/>
              <a:sym typeface="Calibri"/>
            </a:endParaRPr>
          </a:p>
        </p:txBody>
      </p:sp>
      <p:sp>
        <p:nvSpPr>
          <p:cNvPr id="29" name="Google Shape;29;p4"/>
          <p:cNvSpPr/>
          <p:nvPr/>
        </p:nvSpPr>
        <p:spPr>
          <a:xfrm>
            <a:off x="1371600" y="2121408"/>
            <a:ext cx="28346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Sept </a:t>
            </a:r>
            <a:r>
              <a:rPr lang="en-US" sz="1200">
                <a:solidFill>
                  <a:srgbClr val="64748B"/>
                </a:solidFill>
                <a:latin typeface="Calibri"/>
                <a:ea typeface="Calibri"/>
                <a:cs typeface="Calibri"/>
                <a:sym typeface="Calibri"/>
              </a:rPr>
              <a:t>à</a:t>
            </a:r>
            <a:r>
              <a:rPr b="0" i="0" lang="en-US" sz="1200" u="none" cap="none" strike="noStrike">
                <a:solidFill>
                  <a:srgbClr val="64748B"/>
                </a:solidFill>
                <a:latin typeface="Calibri"/>
                <a:ea typeface="Calibri"/>
                <a:cs typeface="Calibri"/>
                <a:sym typeface="Calibri"/>
              </a:rPr>
              <a:t> Nov concentrent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les pics de CA</a:t>
            </a:r>
            <a:endParaRPr b="0" i="0" sz="1200" u="none" cap="none" strike="noStrike">
              <a:solidFill>
                <a:schemeClr val="dk1"/>
              </a:solidFill>
              <a:latin typeface="Calibri"/>
              <a:ea typeface="Calibri"/>
              <a:cs typeface="Calibri"/>
              <a:sym typeface="Calibri"/>
            </a:endParaRPr>
          </a:p>
        </p:txBody>
      </p:sp>
      <p:sp>
        <p:nvSpPr>
          <p:cNvPr id="30" name="Google Shape;30;p4"/>
          <p:cNvSpPr/>
          <p:nvPr/>
        </p:nvSpPr>
        <p:spPr>
          <a:xfrm>
            <a:off x="4663440" y="1371600"/>
            <a:ext cx="3931920" cy="1463040"/>
          </a:xfrm>
          <a:prstGeom prst="roundRect">
            <a:avLst>
              <a:gd fmla="val 6250" name="adj"/>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4846326" y="1425626"/>
            <a:ext cx="780900" cy="75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400"/>
              <a:buFont typeface="Calibri"/>
              <a:buNone/>
            </a:pPr>
            <a:r>
              <a:rPr b="0" i="0" lang="en-US" sz="3500" u="none" cap="none" strike="noStrike">
                <a:solidFill>
                  <a:srgbClr val="000000"/>
                </a:solidFill>
                <a:latin typeface="Calibri"/>
                <a:ea typeface="Calibri"/>
                <a:cs typeface="Calibri"/>
                <a:sym typeface="Calibri"/>
              </a:rPr>
              <a:t>👥</a:t>
            </a:r>
            <a:endParaRPr b="0" i="0" sz="3500" u="none" cap="none" strike="noStrike">
              <a:solidFill>
                <a:schemeClr val="dk1"/>
              </a:solidFill>
              <a:latin typeface="Calibri"/>
              <a:ea typeface="Calibri"/>
              <a:cs typeface="Calibri"/>
              <a:sym typeface="Calibri"/>
            </a:endParaRPr>
          </a:p>
        </p:txBody>
      </p:sp>
      <p:sp>
        <p:nvSpPr>
          <p:cNvPr id="32" name="Google Shape;32;p4"/>
          <p:cNvSpPr/>
          <p:nvPr/>
        </p:nvSpPr>
        <p:spPr>
          <a:xfrm>
            <a:off x="5577840" y="1508760"/>
            <a:ext cx="28346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Les clients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non identifiés</a:t>
            </a:r>
            <a:endParaRPr b="0" i="0" sz="1500" u="none" cap="none" strike="noStrike">
              <a:solidFill>
                <a:schemeClr val="dk1"/>
              </a:solidFill>
              <a:latin typeface="Calibri"/>
              <a:ea typeface="Calibri"/>
              <a:cs typeface="Calibri"/>
              <a:sym typeface="Calibri"/>
            </a:endParaRPr>
          </a:p>
        </p:txBody>
      </p:sp>
      <p:sp>
        <p:nvSpPr>
          <p:cNvPr id="33" name="Google Shape;33;p4"/>
          <p:cNvSpPr/>
          <p:nvPr/>
        </p:nvSpPr>
        <p:spPr>
          <a:xfrm>
            <a:off x="5577840" y="2121408"/>
            <a:ext cx="28346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Le segment le plus actif</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et le plus fiable</a:t>
            </a:r>
            <a:endParaRPr b="0" i="0" sz="1200" u="none" cap="none" strike="noStrike">
              <a:solidFill>
                <a:schemeClr val="dk1"/>
              </a:solidFill>
              <a:latin typeface="Calibri"/>
              <a:ea typeface="Calibri"/>
              <a:cs typeface="Calibri"/>
              <a:sym typeface="Calibri"/>
            </a:endParaRPr>
          </a:p>
        </p:txBody>
      </p:sp>
      <p:sp>
        <p:nvSpPr>
          <p:cNvPr id="34" name="Google Shape;34;p4"/>
          <p:cNvSpPr/>
          <p:nvPr/>
        </p:nvSpPr>
        <p:spPr>
          <a:xfrm>
            <a:off x="457200" y="3017520"/>
            <a:ext cx="3931920" cy="1463040"/>
          </a:xfrm>
          <a:prstGeom prst="roundRect">
            <a:avLst>
              <a:gd fmla="val 6250" name="adj"/>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1371600" y="3154680"/>
            <a:ext cx="28346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Le Royaume-Uni</a:t>
            </a:r>
            <a:endParaRPr b="0" i="0" sz="1500" u="none" cap="none" strike="noStrike">
              <a:solidFill>
                <a:schemeClr val="dk1"/>
              </a:solidFill>
              <a:latin typeface="Calibri"/>
              <a:ea typeface="Calibri"/>
              <a:cs typeface="Calibri"/>
              <a:sym typeface="Calibri"/>
            </a:endParaRPr>
          </a:p>
        </p:txBody>
      </p:sp>
      <p:sp>
        <p:nvSpPr>
          <p:cNvPr id="36" name="Google Shape;36;p4"/>
          <p:cNvSpPr/>
          <p:nvPr/>
        </p:nvSpPr>
        <p:spPr>
          <a:xfrm>
            <a:off x="1371600" y="3767328"/>
            <a:ext cx="28346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84,7% du CA global</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sur un seul marché</a:t>
            </a:r>
            <a:endParaRPr b="0" i="0" sz="1200" u="none" cap="none" strike="noStrike">
              <a:solidFill>
                <a:schemeClr val="dk1"/>
              </a:solidFill>
              <a:latin typeface="Calibri"/>
              <a:ea typeface="Calibri"/>
              <a:cs typeface="Calibri"/>
              <a:sym typeface="Calibri"/>
            </a:endParaRPr>
          </a:p>
        </p:txBody>
      </p:sp>
      <p:sp>
        <p:nvSpPr>
          <p:cNvPr id="37" name="Google Shape;37;p4"/>
          <p:cNvSpPr/>
          <p:nvPr/>
        </p:nvSpPr>
        <p:spPr>
          <a:xfrm>
            <a:off x="4663440" y="3017520"/>
            <a:ext cx="3931920" cy="1463040"/>
          </a:xfrm>
          <a:prstGeom prst="roundRect">
            <a:avLst>
              <a:gd fmla="val 6250" name="adj"/>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4846320" y="3182112"/>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400"/>
              <a:buFont typeface="Calibri"/>
              <a:buNone/>
            </a:pPr>
            <a:r>
              <a:rPr b="0" i="0" lang="en-US" sz="3400" u="none" cap="none" strike="noStrike">
                <a:solidFill>
                  <a:srgbClr val="000000"/>
                </a:solidFill>
                <a:latin typeface="Calibri"/>
                <a:ea typeface="Calibri"/>
                <a:cs typeface="Calibri"/>
                <a:sym typeface="Calibri"/>
              </a:rPr>
              <a:t>📦</a:t>
            </a:r>
            <a:endParaRPr b="0" i="0" sz="3400" u="none" cap="none" strike="noStrike">
              <a:solidFill>
                <a:schemeClr val="dk1"/>
              </a:solidFill>
              <a:latin typeface="Calibri"/>
              <a:ea typeface="Calibri"/>
              <a:cs typeface="Calibri"/>
              <a:sym typeface="Calibri"/>
            </a:endParaRPr>
          </a:p>
        </p:txBody>
      </p:sp>
      <p:sp>
        <p:nvSpPr>
          <p:cNvPr id="39" name="Google Shape;39;p4"/>
          <p:cNvSpPr/>
          <p:nvPr/>
        </p:nvSpPr>
        <p:spPr>
          <a:xfrm>
            <a:off x="5577840" y="3154680"/>
            <a:ext cx="28346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Les produits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à fort volume</a:t>
            </a:r>
            <a:endParaRPr b="0" i="0" sz="1500" u="none" cap="none" strike="noStrike">
              <a:solidFill>
                <a:schemeClr val="dk1"/>
              </a:solidFill>
              <a:latin typeface="Calibri"/>
              <a:ea typeface="Calibri"/>
              <a:cs typeface="Calibri"/>
              <a:sym typeface="Calibri"/>
            </a:endParaRPr>
          </a:p>
        </p:txBody>
      </p:sp>
      <p:sp>
        <p:nvSpPr>
          <p:cNvPr id="40" name="Google Shape;40;p4"/>
          <p:cNvSpPr/>
          <p:nvPr/>
        </p:nvSpPr>
        <p:spPr>
          <a:xfrm>
            <a:off x="5577840" y="3767328"/>
            <a:ext cx="28346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La fréquence d'achat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construit le CA</a:t>
            </a:r>
            <a:endParaRPr b="0" i="0" sz="1200" u="none" cap="none" strike="noStrike">
              <a:solidFill>
                <a:schemeClr val="dk1"/>
              </a:solidFill>
              <a:latin typeface="Calibri"/>
              <a:ea typeface="Calibri"/>
              <a:cs typeface="Calibri"/>
              <a:sym typeface="Calibri"/>
            </a:endParaRPr>
          </a:p>
        </p:txBody>
      </p:sp>
      <p:pic>
        <p:nvPicPr>
          <p:cNvPr id="41" name="Google Shape;41;p4"/>
          <p:cNvPicPr preferRelativeResize="0"/>
          <p:nvPr/>
        </p:nvPicPr>
        <p:blipFill>
          <a:blip r:embed="rId3">
            <a:alphaModFix/>
          </a:blip>
          <a:stretch>
            <a:fillRect/>
          </a:stretch>
        </p:blipFill>
        <p:spPr>
          <a:xfrm>
            <a:off x="695200" y="3255525"/>
            <a:ext cx="462801" cy="462799"/>
          </a:xfrm>
          <a:prstGeom prst="rect">
            <a:avLst/>
          </a:prstGeom>
          <a:noFill/>
          <a:ln>
            <a:noFill/>
          </a:ln>
        </p:spPr>
      </p:pic>
      <p:pic>
        <p:nvPicPr>
          <p:cNvPr id="42" name="Google Shape;42;p4"/>
          <p:cNvPicPr preferRelativeResize="0"/>
          <p:nvPr/>
        </p:nvPicPr>
        <p:blipFill>
          <a:blip r:embed="rId4">
            <a:alphaModFix/>
          </a:blip>
          <a:stretch>
            <a:fillRect/>
          </a:stretch>
        </p:blipFill>
        <p:spPr>
          <a:xfrm>
            <a:off x="656871" y="1586517"/>
            <a:ext cx="539466" cy="539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7" name="Shape 47"/>
        <p:cNvGrpSpPr/>
        <p:nvPr/>
      </p:nvGrpSpPr>
      <p:grpSpPr>
        <a:xfrm>
          <a:off x="0" y="0"/>
          <a:ext cx="0" cy="0"/>
          <a:chOff x="0" y="0"/>
          <a:chExt cx="0" cy="0"/>
        </a:xfrm>
      </p:grpSpPr>
      <p:sp>
        <p:nvSpPr>
          <p:cNvPr id="48" name="Google Shape;48;p5"/>
          <p:cNvSpPr/>
          <p:nvPr/>
        </p:nvSpPr>
        <p:spPr>
          <a:xfrm>
            <a:off x="457200" y="256032"/>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Ce que nous recommandons</a:t>
            </a:r>
            <a:endParaRPr b="0" i="0" sz="2800" u="none" cap="none" strike="noStrike">
              <a:solidFill>
                <a:schemeClr val="dk1"/>
              </a:solidFill>
              <a:latin typeface="Calibri"/>
              <a:ea typeface="Calibri"/>
              <a:cs typeface="Calibri"/>
              <a:sym typeface="Calibri"/>
            </a:endParaRPr>
          </a:p>
        </p:txBody>
      </p:sp>
      <p:sp>
        <p:nvSpPr>
          <p:cNvPr id="49" name="Google Shape;49;p5"/>
          <p:cNvSpPr/>
          <p:nvPr/>
        </p:nvSpPr>
        <p:spPr>
          <a:xfrm>
            <a:off x="457200" y="86868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5 actions classées par ordre de priorité</a:t>
            </a:r>
            <a:endParaRPr b="0" i="0" sz="1300" u="none" cap="none" strike="noStrike">
              <a:solidFill>
                <a:schemeClr val="dk1"/>
              </a:solidFill>
              <a:latin typeface="Calibri"/>
              <a:ea typeface="Calibri"/>
              <a:cs typeface="Calibri"/>
              <a:sym typeface="Calibri"/>
            </a:endParaRPr>
          </a:p>
        </p:txBody>
      </p:sp>
      <p:sp>
        <p:nvSpPr>
          <p:cNvPr id="50" name="Google Shape;50;p5"/>
          <p:cNvSpPr/>
          <p:nvPr/>
        </p:nvSpPr>
        <p:spPr>
          <a:xfrm>
            <a:off x="457200" y="1417320"/>
            <a:ext cx="411480" cy="411480"/>
          </a:xfrm>
          <a:prstGeom prst="ellipse">
            <a:avLst/>
          </a:prstGeom>
          <a:solidFill>
            <a:srgbClr val="B91C1C"/>
          </a:solidFill>
          <a:ln cap="flat" cmpd="sng" w="12700">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457200" y="14173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52" name="Google Shape;52;p5"/>
          <p:cNvSpPr/>
          <p:nvPr/>
        </p:nvSpPr>
        <p:spPr>
          <a:xfrm>
            <a:off x="1005840" y="1371600"/>
            <a:ext cx="7680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Investiguer les annulations du produit phare (REGENCY CAKESTAND 3 TIER)</a:t>
            </a:r>
            <a:endParaRPr b="0" i="0" sz="1400" u="none" cap="none" strike="noStrike">
              <a:solidFill>
                <a:schemeClr val="dk1"/>
              </a:solidFill>
              <a:latin typeface="Calibri"/>
              <a:ea typeface="Calibri"/>
              <a:cs typeface="Calibri"/>
              <a:sym typeface="Calibri"/>
            </a:endParaRPr>
          </a:p>
        </p:txBody>
      </p:sp>
      <p:sp>
        <p:nvSpPr>
          <p:cNvPr id="53" name="Google Shape;53;p5"/>
          <p:cNvSpPr/>
          <p:nvPr/>
        </p:nvSpPr>
        <p:spPr>
          <a:xfrm>
            <a:off x="457200" y="2103120"/>
            <a:ext cx="411480" cy="411480"/>
          </a:xfrm>
          <a:prstGeom prst="ellipse">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457200" y="21031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55" name="Google Shape;55;p5"/>
          <p:cNvSpPr/>
          <p:nvPr/>
        </p:nvSpPr>
        <p:spPr>
          <a:xfrm>
            <a:off x="1005840" y="2057400"/>
            <a:ext cx="7680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Réduire la dépendance au marché britannique</a:t>
            </a:r>
            <a:endParaRPr b="0" i="0" sz="1400" u="none" cap="none" strike="noStrike">
              <a:solidFill>
                <a:schemeClr val="dk1"/>
              </a:solidFill>
              <a:latin typeface="Calibri"/>
              <a:ea typeface="Calibri"/>
              <a:cs typeface="Calibri"/>
              <a:sym typeface="Calibri"/>
            </a:endParaRPr>
          </a:p>
        </p:txBody>
      </p:sp>
      <p:sp>
        <p:nvSpPr>
          <p:cNvPr id="56" name="Google Shape;56;p5"/>
          <p:cNvSpPr/>
          <p:nvPr/>
        </p:nvSpPr>
        <p:spPr>
          <a:xfrm>
            <a:off x="457200" y="2788920"/>
            <a:ext cx="411480" cy="411480"/>
          </a:xfrm>
          <a:prstGeom prst="ellipse">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457200" y="27889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8" name="Google Shape;58;p5"/>
          <p:cNvSpPr/>
          <p:nvPr/>
        </p:nvSpPr>
        <p:spPr>
          <a:xfrm>
            <a:off x="1005840" y="2743200"/>
            <a:ext cx="7680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Identifier les clients Unknown </a:t>
            </a:r>
            <a:r>
              <a:rPr lang="en-US">
                <a:solidFill>
                  <a:srgbClr val="FFFFFF"/>
                </a:solidFill>
                <a:latin typeface="Calibri"/>
                <a:ea typeface="Calibri"/>
                <a:cs typeface="Calibri"/>
                <a:sym typeface="Calibri"/>
              </a:rPr>
              <a:t>avec une</a:t>
            </a:r>
            <a:r>
              <a:rPr b="0" i="0" lang="en-US" sz="1400" u="none" cap="none" strike="noStrike">
                <a:solidFill>
                  <a:srgbClr val="FFFFFF"/>
                </a:solidFill>
                <a:latin typeface="Calibri"/>
                <a:ea typeface="Calibri"/>
                <a:cs typeface="Calibri"/>
                <a:sym typeface="Calibri"/>
              </a:rPr>
              <a:t> création de compte obligatoire</a:t>
            </a:r>
            <a:endParaRPr b="0" i="0" sz="1400" u="none" cap="none" strike="noStrike">
              <a:solidFill>
                <a:schemeClr val="dk1"/>
              </a:solidFill>
              <a:latin typeface="Calibri"/>
              <a:ea typeface="Calibri"/>
              <a:cs typeface="Calibri"/>
              <a:sym typeface="Calibri"/>
            </a:endParaRPr>
          </a:p>
        </p:txBody>
      </p:sp>
      <p:sp>
        <p:nvSpPr>
          <p:cNvPr id="59" name="Google Shape;59;p5"/>
          <p:cNvSpPr/>
          <p:nvPr/>
        </p:nvSpPr>
        <p:spPr>
          <a:xfrm>
            <a:off x="457200" y="3474720"/>
            <a:ext cx="411480" cy="411480"/>
          </a:xfrm>
          <a:prstGeom prst="ellipse">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457200" y="34747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61" name="Google Shape;61;p5"/>
          <p:cNvSpPr/>
          <p:nvPr/>
        </p:nvSpPr>
        <p:spPr>
          <a:xfrm>
            <a:off x="1005840" y="3429000"/>
            <a:ext cx="7680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Comprendre les clients à haute valeur, faible fréquence</a:t>
            </a:r>
            <a:endParaRPr b="0" i="0" sz="1400" u="none" cap="none" strike="noStrike">
              <a:solidFill>
                <a:schemeClr val="dk1"/>
              </a:solidFill>
              <a:latin typeface="Calibri"/>
              <a:ea typeface="Calibri"/>
              <a:cs typeface="Calibri"/>
              <a:sym typeface="Calibri"/>
            </a:endParaRPr>
          </a:p>
        </p:txBody>
      </p:sp>
      <p:sp>
        <p:nvSpPr>
          <p:cNvPr id="62" name="Google Shape;62;p5"/>
          <p:cNvSpPr/>
          <p:nvPr/>
        </p:nvSpPr>
        <p:spPr>
          <a:xfrm>
            <a:off x="457200" y="4160520"/>
            <a:ext cx="411480" cy="411480"/>
          </a:xfrm>
          <a:prstGeom prst="ellipse">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457200" y="4160520"/>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64" name="Google Shape;64;p5"/>
          <p:cNvSpPr/>
          <p:nvPr/>
        </p:nvSpPr>
        <p:spPr>
          <a:xfrm>
            <a:off x="1005840" y="4114800"/>
            <a:ext cx="768096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Investiguer les creux de début d'année (janv </a:t>
            </a:r>
            <a:r>
              <a:rPr lang="en-US">
                <a:solidFill>
                  <a:srgbClr val="FFFFFF"/>
                </a:solidFill>
                <a:latin typeface="Calibri"/>
                <a:ea typeface="Calibri"/>
                <a:cs typeface="Calibri"/>
                <a:sym typeface="Calibri"/>
              </a:rPr>
              <a:t>à </a:t>
            </a:r>
            <a:r>
              <a:rPr b="0" i="0" lang="en-US" sz="1400" u="none" cap="none" strike="noStrike">
                <a:solidFill>
                  <a:srgbClr val="FFFFFF"/>
                </a:solidFill>
                <a:latin typeface="Calibri"/>
                <a:ea typeface="Calibri"/>
                <a:cs typeface="Calibri"/>
                <a:sym typeface="Calibri"/>
              </a:rPr>
              <a:t>avr)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69" name="Shape 69"/>
        <p:cNvGrpSpPr/>
        <p:nvPr/>
      </p:nvGrpSpPr>
      <p:grpSpPr>
        <a:xfrm>
          <a:off x="0" y="0"/>
          <a:ext cx="0" cy="0"/>
          <a:chOff x="0" y="0"/>
          <a:chExt cx="0" cy="0"/>
        </a:xfrm>
      </p:grpSpPr>
      <p:sp>
        <p:nvSpPr>
          <p:cNvPr id="70" name="Google Shape;70;p6"/>
          <p:cNvSpPr/>
          <p:nvPr/>
        </p:nvSpPr>
        <p:spPr>
          <a:xfrm>
            <a:off x="457200" y="256032"/>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400"/>
              <a:buFont typeface="Cambria"/>
              <a:buNone/>
            </a:pPr>
            <a:r>
              <a:rPr b="1" i="0" lang="en-US" sz="2400" u="none" cap="none" strike="noStrike">
                <a:solidFill>
                  <a:srgbClr val="1E2761"/>
                </a:solidFill>
                <a:latin typeface="Cambria"/>
                <a:ea typeface="Cambria"/>
                <a:cs typeface="Cambria"/>
                <a:sym typeface="Cambria"/>
              </a:rPr>
              <a:t>Vos produits : REGENCY CAKESTAND 3 TIER d</a:t>
            </a:r>
            <a:r>
              <a:rPr b="1" lang="en-US" sz="2400">
                <a:solidFill>
                  <a:srgbClr val="1E2761"/>
                </a:solidFill>
                <a:latin typeface="Cambria"/>
                <a:ea typeface="Cambria"/>
                <a:cs typeface="Cambria"/>
                <a:sym typeface="Cambria"/>
              </a:rPr>
              <a:t>omine le CA</a:t>
            </a:r>
            <a:endParaRPr b="0" i="0" sz="2400" u="none" cap="none" strike="noStrike">
              <a:solidFill>
                <a:schemeClr val="dk1"/>
              </a:solidFill>
              <a:latin typeface="Calibri"/>
              <a:ea typeface="Calibri"/>
              <a:cs typeface="Calibri"/>
              <a:sym typeface="Calibri"/>
            </a:endParaRPr>
          </a:p>
        </p:txBody>
      </p:sp>
      <p:sp>
        <p:nvSpPr>
          <p:cNvPr id="71" name="Google Shape;71;p6"/>
          <p:cNvSpPr/>
          <p:nvPr/>
        </p:nvSpPr>
        <p:spPr>
          <a:xfrm>
            <a:off x="6778000" y="1775100"/>
            <a:ext cx="2129400" cy="2389500"/>
          </a:xfrm>
          <a:prstGeom prst="roundRect">
            <a:avLst>
              <a:gd fmla="val 7407" name="adj"/>
            </a:avLst>
          </a:prstGeom>
          <a:solidFill>
            <a:srgbClr val="FEF2F2"/>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6864400" y="1836650"/>
            <a:ext cx="1956600" cy="62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200"/>
              <a:buFont typeface="Calibri"/>
              <a:buNone/>
            </a:pPr>
            <a:r>
              <a:rPr b="1" i="0" lang="en-US" sz="1900" u="none" cap="none" strike="noStrike">
                <a:solidFill>
                  <a:srgbClr val="B91C1C"/>
                </a:solidFill>
                <a:latin typeface="Calibri"/>
                <a:ea typeface="Calibri"/>
                <a:cs typeface="Calibri"/>
                <a:sym typeface="Calibri"/>
              </a:rPr>
              <a:t>⚠️  Signal d'alerte</a:t>
            </a:r>
            <a:endParaRPr b="0" i="0" sz="1900" u="none" cap="none" strike="noStrike">
              <a:solidFill>
                <a:schemeClr val="dk1"/>
              </a:solidFill>
              <a:latin typeface="Calibri"/>
              <a:ea typeface="Calibri"/>
              <a:cs typeface="Calibri"/>
              <a:sym typeface="Calibri"/>
            </a:endParaRPr>
          </a:p>
        </p:txBody>
      </p:sp>
      <p:sp>
        <p:nvSpPr>
          <p:cNvPr id="73" name="Google Shape;73;p6"/>
          <p:cNvSpPr/>
          <p:nvPr/>
        </p:nvSpPr>
        <p:spPr>
          <a:xfrm>
            <a:off x="6864400" y="2623524"/>
            <a:ext cx="1956600" cy="128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500" u="none" cap="none" strike="noStrike">
                <a:solidFill>
                  <a:srgbClr val="1E293B"/>
                </a:solidFill>
                <a:latin typeface="Calibri"/>
                <a:ea typeface="Calibri"/>
                <a:cs typeface="Calibri"/>
                <a:sym typeface="Calibri"/>
              </a:rPr>
              <a:t>REGENCY CAKESTAND</a:t>
            </a:r>
            <a:endParaRPr b="1"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rPr b="0" i="0" lang="en-US" sz="1500" u="none" cap="none" strike="noStrike">
                <a:solidFill>
                  <a:srgbClr val="1E293B"/>
                </a:solidFill>
                <a:latin typeface="Calibri"/>
                <a:ea typeface="Calibri"/>
                <a:cs typeface="Calibri"/>
                <a:sym typeface="Calibri"/>
              </a:rPr>
              <a:t>8,22% de taux d'annulation</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rPr b="0" i="0" lang="en-US" sz="1500" u="none" cap="none" strike="noStrike">
                <a:solidFill>
                  <a:srgbClr val="1E293B"/>
                </a:solidFill>
                <a:latin typeface="Calibri"/>
                <a:ea typeface="Calibri"/>
                <a:cs typeface="Calibri"/>
                <a:sym typeface="Calibri"/>
              </a:rPr>
              <a:t>parmi les 20 premiers produits</a:t>
            </a:r>
            <a:endParaRPr b="0" i="0" sz="1500" u="none" cap="none" strike="noStrike">
              <a:solidFill>
                <a:schemeClr val="dk1"/>
              </a:solidFill>
              <a:latin typeface="Calibri"/>
              <a:ea typeface="Calibri"/>
              <a:cs typeface="Calibri"/>
              <a:sym typeface="Calibri"/>
            </a:endParaRPr>
          </a:p>
        </p:txBody>
      </p:sp>
      <p:pic>
        <p:nvPicPr>
          <p:cNvPr id="74" name="Google Shape;74;p6" title="classement_TOP_produit.png"/>
          <p:cNvPicPr preferRelativeResize="0"/>
          <p:nvPr/>
        </p:nvPicPr>
        <p:blipFill>
          <a:blip r:embed="rId3">
            <a:alphaModFix/>
          </a:blip>
          <a:stretch>
            <a:fillRect/>
          </a:stretch>
        </p:blipFill>
        <p:spPr>
          <a:xfrm>
            <a:off x="152400" y="991125"/>
            <a:ext cx="6426127" cy="39574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79" name="Shape 79"/>
        <p:cNvGrpSpPr/>
        <p:nvPr/>
      </p:nvGrpSpPr>
      <p:grpSpPr>
        <a:xfrm>
          <a:off x="0" y="0"/>
          <a:ext cx="0" cy="0"/>
          <a:chOff x="0" y="0"/>
          <a:chExt cx="0" cy="0"/>
        </a:xfrm>
      </p:grpSpPr>
      <p:sp>
        <p:nvSpPr>
          <p:cNvPr id="80" name="Google Shape;80;p7"/>
          <p:cNvSpPr/>
          <p:nvPr/>
        </p:nvSpPr>
        <p:spPr>
          <a:xfrm>
            <a:off x="457200" y="256032"/>
            <a:ext cx="82296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2400"/>
              <a:buFont typeface="Cambria"/>
              <a:buNone/>
            </a:pPr>
            <a:r>
              <a:rPr b="1" lang="en-US" sz="2400">
                <a:solidFill>
                  <a:srgbClr val="1E2761"/>
                </a:solidFill>
                <a:latin typeface="Cambria"/>
                <a:ea typeface="Cambria"/>
                <a:cs typeface="Cambria"/>
                <a:sym typeface="Cambria"/>
              </a:rPr>
              <a:t>Les produits peu </a:t>
            </a:r>
            <a:r>
              <a:rPr b="1" lang="en-US" sz="2400">
                <a:solidFill>
                  <a:srgbClr val="1E2761"/>
                </a:solidFill>
                <a:latin typeface="Cambria"/>
                <a:ea typeface="Cambria"/>
                <a:cs typeface="Cambria"/>
                <a:sym typeface="Cambria"/>
              </a:rPr>
              <a:t>coûteux</a:t>
            </a:r>
            <a:r>
              <a:rPr b="1" lang="en-US" sz="2400">
                <a:solidFill>
                  <a:srgbClr val="1E2761"/>
                </a:solidFill>
                <a:latin typeface="Cambria"/>
                <a:ea typeface="Cambria"/>
                <a:cs typeface="Cambria"/>
                <a:sym typeface="Cambria"/>
              </a:rPr>
              <a:t> portent le CA</a:t>
            </a:r>
            <a:endParaRPr b="0" i="0" sz="2400" u="none" cap="none" strike="noStrike">
              <a:solidFill>
                <a:schemeClr val="dk1"/>
              </a:solidFill>
              <a:latin typeface="Calibri"/>
              <a:ea typeface="Calibri"/>
              <a:cs typeface="Calibri"/>
              <a:sym typeface="Calibri"/>
            </a:endParaRPr>
          </a:p>
        </p:txBody>
      </p:sp>
      <p:sp>
        <p:nvSpPr>
          <p:cNvPr id="81" name="Google Shape;81;p7"/>
          <p:cNvSpPr/>
          <p:nvPr/>
        </p:nvSpPr>
        <p:spPr>
          <a:xfrm>
            <a:off x="7001275" y="2377450"/>
            <a:ext cx="1685400" cy="1937100"/>
          </a:xfrm>
          <a:prstGeom prst="roundRect">
            <a:avLst>
              <a:gd fmla="val 6452" name="adj"/>
            </a:avLst>
          </a:prstGeom>
          <a:solidFill>
            <a:srgbClr val="ECFDF5"/>
          </a:solidFill>
          <a:ln>
            <a:noFill/>
          </a:ln>
          <a:effectLst>
            <a:outerShdw blurRad="101600" rotWithShape="0" algn="bl" dir="27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7140921" y="2564075"/>
            <a:ext cx="14061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47857"/>
              </a:buClr>
              <a:buSzPts val="1200"/>
              <a:buFont typeface="Calibri"/>
              <a:buNone/>
            </a:pPr>
            <a:r>
              <a:rPr b="1" i="0" lang="en-US" u="none" cap="none" strike="noStrike">
                <a:solidFill>
                  <a:srgbClr val="047857"/>
                </a:solidFill>
                <a:latin typeface="Calibri"/>
                <a:ea typeface="Calibri"/>
                <a:cs typeface="Calibri"/>
                <a:sym typeface="Calibri"/>
              </a:rPr>
              <a:t>💡  Opportunité non exploitée</a:t>
            </a:r>
            <a:endParaRPr b="0" i="0" u="none" cap="none" strike="noStrike">
              <a:solidFill>
                <a:schemeClr val="dk1"/>
              </a:solidFill>
              <a:latin typeface="Calibri"/>
              <a:ea typeface="Calibri"/>
              <a:cs typeface="Calibri"/>
              <a:sym typeface="Calibri"/>
            </a:endParaRPr>
          </a:p>
        </p:txBody>
      </p:sp>
      <p:sp>
        <p:nvSpPr>
          <p:cNvPr id="83" name="Google Shape;83;p7"/>
          <p:cNvSpPr/>
          <p:nvPr/>
        </p:nvSpPr>
        <p:spPr>
          <a:xfrm>
            <a:off x="7047021" y="3102050"/>
            <a:ext cx="15939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100" u="none" cap="none" strike="noStrike">
                <a:solidFill>
                  <a:srgbClr val="1E293B"/>
                </a:solidFill>
                <a:latin typeface="Calibri"/>
                <a:ea typeface="Calibri"/>
                <a:cs typeface="Calibri"/>
                <a:sym typeface="Calibri"/>
              </a:rPr>
              <a:t>PICNIC BASKET WICKER</a:t>
            </a:r>
            <a:endParaRPr b="1"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649 £ / unité · 0 annulation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Profil compatible revendeur</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Volume trop faible pour son potentiel</a:t>
            </a:r>
            <a:endParaRPr b="0" i="0" sz="1100" u="none" cap="none" strike="noStrike">
              <a:solidFill>
                <a:schemeClr val="dk1"/>
              </a:solidFill>
              <a:latin typeface="Calibri"/>
              <a:ea typeface="Calibri"/>
              <a:cs typeface="Calibri"/>
              <a:sym typeface="Calibri"/>
            </a:endParaRPr>
          </a:p>
        </p:txBody>
      </p:sp>
      <p:sp>
        <p:nvSpPr>
          <p:cNvPr id="84" name="Google Shape;84;p7"/>
          <p:cNvSpPr/>
          <p:nvPr/>
        </p:nvSpPr>
        <p:spPr>
          <a:xfrm>
            <a:off x="6909775" y="1139588"/>
            <a:ext cx="1776900" cy="903000"/>
          </a:xfrm>
          <a:prstGeom prst="roundRect">
            <a:avLst>
              <a:gd fmla="val 11765" name="adj"/>
            </a:avLst>
          </a:prstGeom>
          <a:solidFill>
            <a:srgbClr val="FFFFFF"/>
          </a:solidFill>
          <a:ln>
            <a:noFill/>
          </a:ln>
          <a:effectLst>
            <a:outerShdw blurRad="101600" rotWithShape="0" algn="bl" dir="27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7095171" y="1248188"/>
            <a:ext cx="1497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0" i="1" lang="en-US" sz="1300" u="none" cap="none" strike="noStrike">
                <a:solidFill>
                  <a:srgbClr val="1E2761"/>
                </a:solidFill>
                <a:latin typeface="Calibri"/>
                <a:ea typeface="Calibri"/>
                <a:cs typeface="Calibri"/>
                <a:sym typeface="Calibri"/>
              </a:rPr>
              <a:t>C'est la fréquence d'achat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alibri"/>
              <a:buNone/>
            </a:pPr>
            <a:r>
              <a:rPr b="0" i="1" lang="en-US" sz="1300" u="none" cap="none" strike="noStrike">
                <a:solidFill>
                  <a:srgbClr val="1E2761"/>
                </a:solidFill>
                <a:latin typeface="Calibri"/>
                <a:ea typeface="Calibri"/>
                <a:cs typeface="Calibri"/>
                <a:sym typeface="Calibri"/>
              </a:rPr>
              <a:t>qui construit le CA,</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761"/>
              </a:buClr>
              <a:buSzPts val="1100"/>
              <a:buFont typeface="Calibri"/>
              <a:buNone/>
            </a:pPr>
            <a:r>
              <a:rPr b="0" i="1" lang="en-US" sz="1300" u="none" cap="none" strike="noStrike">
                <a:solidFill>
                  <a:srgbClr val="1E2761"/>
                </a:solidFill>
                <a:latin typeface="Calibri"/>
                <a:ea typeface="Calibri"/>
                <a:cs typeface="Calibri"/>
                <a:sym typeface="Calibri"/>
              </a:rPr>
              <a:t>pas la valeur unitaire.</a:t>
            </a:r>
            <a:endParaRPr b="0" i="0" sz="1300" u="none" cap="none" strike="noStrike">
              <a:solidFill>
                <a:schemeClr val="dk1"/>
              </a:solidFill>
              <a:latin typeface="Calibri"/>
              <a:ea typeface="Calibri"/>
              <a:cs typeface="Calibri"/>
              <a:sym typeface="Calibri"/>
            </a:endParaRPr>
          </a:p>
        </p:txBody>
      </p:sp>
      <p:pic>
        <p:nvPicPr>
          <p:cNvPr id="86" name="Google Shape;86;p7" title="contraste_CA_et_depense_moyenne.png"/>
          <p:cNvPicPr preferRelativeResize="0"/>
          <p:nvPr/>
        </p:nvPicPr>
        <p:blipFill>
          <a:blip r:embed="rId3">
            <a:alphaModFix/>
          </a:blip>
          <a:stretch>
            <a:fillRect/>
          </a:stretch>
        </p:blipFill>
        <p:spPr>
          <a:xfrm>
            <a:off x="152400" y="957125"/>
            <a:ext cx="6473073" cy="3752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91" name="Shape 91"/>
        <p:cNvGrpSpPr/>
        <p:nvPr/>
      </p:nvGrpSpPr>
      <p:grpSpPr>
        <a:xfrm>
          <a:off x="0" y="0"/>
          <a:ext cx="0" cy="0"/>
          <a:chOff x="0" y="0"/>
          <a:chExt cx="0" cy="0"/>
        </a:xfrm>
      </p:grpSpPr>
      <p:sp>
        <p:nvSpPr>
          <p:cNvPr id="92" name="Google Shape;92;p8"/>
          <p:cNvSpPr/>
          <p:nvPr/>
        </p:nvSpPr>
        <p:spPr>
          <a:xfrm>
            <a:off x="457200" y="256032"/>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400"/>
              <a:buFont typeface="Cambria"/>
              <a:buNone/>
            </a:pPr>
            <a:r>
              <a:rPr b="1" i="0" lang="en-US" sz="2400" u="none" cap="none" strike="noStrike">
                <a:solidFill>
                  <a:srgbClr val="1E2761"/>
                </a:solidFill>
                <a:latin typeface="Cambria"/>
                <a:ea typeface="Cambria"/>
                <a:cs typeface="Cambria"/>
                <a:sym typeface="Cambria"/>
              </a:rPr>
              <a:t>Votre meilleur segment client est aussi le plus invisible</a:t>
            </a:r>
            <a:endParaRPr b="0" i="0" sz="2400" u="none" cap="none" strike="noStrike">
              <a:solidFill>
                <a:schemeClr val="dk1"/>
              </a:solidFill>
              <a:latin typeface="Calibri"/>
              <a:ea typeface="Calibri"/>
              <a:cs typeface="Calibri"/>
              <a:sym typeface="Calibri"/>
            </a:endParaRPr>
          </a:p>
        </p:txBody>
      </p:sp>
      <p:sp>
        <p:nvSpPr>
          <p:cNvPr id="93" name="Google Shape;93;p8"/>
          <p:cNvSpPr/>
          <p:nvPr/>
        </p:nvSpPr>
        <p:spPr>
          <a:xfrm>
            <a:off x="6319525" y="1202950"/>
            <a:ext cx="2031000" cy="1097400"/>
          </a:xfrm>
          <a:prstGeom prst="roundRect">
            <a:avLst>
              <a:gd fmla="val 8333" name="adj"/>
            </a:avLst>
          </a:prstGeom>
          <a:solidFill>
            <a:srgbClr val="ECFDF5"/>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a:off x="6450478" y="1308650"/>
            <a:ext cx="17691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857"/>
              </a:buClr>
              <a:buSzPts val="2200"/>
              <a:buFont typeface="Cambria"/>
              <a:buNone/>
            </a:pPr>
            <a:r>
              <a:rPr b="1" i="0" lang="en-US" sz="2200" u="none" cap="none" strike="noStrike">
                <a:solidFill>
                  <a:srgbClr val="047857"/>
                </a:solidFill>
                <a:latin typeface="Cambria"/>
                <a:ea typeface="Cambria"/>
                <a:cs typeface="Cambria"/>
                <a:sym typeface="Cambria"/>
              </a:rPr>
              <a:t>0,12%</a:t>
            </a:r>
            <a:endParaRPr b="0" i="0" sz="2200" u="none" cap="none" strike="noStrike">
              <a:solidFill>
                <a:schemeClr val="dk1"/>
              </a:solidFill>
              <a:latin typeface="Calibri"/>
              <a:ea typeface="Calibri"/>
              <a:cs typeface="Calibri"/>
              <a:sym typeface="Calibri"/>
            </a:endParaRPr>
          </a:p>
        </p:txBody>
      </p:sp>
      <p:sp>
        <p:nvSpPr>
          <p:cNvPr id="95" name="Google Shape;95;p8"/>
          <p:cNvSpPr/>
          <p:nvPr/>
        </p:nvSpPr>
        <p:spPr>
          <a:xfrm>
            <a:off x="6575997" y="1765850"/>
            <a:ext cx="2110800" cy="5028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Taux d'annulation</a:t>
            </a:r>
            <a:endParaRPr b="0" i="0" sz="1200" u="none" cap="none" strike="noStrike">
              <a:solidFill>
                <a:schemeClr val="dk1"/>
              </a:solidFill>
              <a:latin typeface="Calibri"/>
              <a:ea typeface="Calibri"/>
              <a:cs typeface="Calibri"/>
              <a:sym typeface="Calibri"/>
            </a:endParaRPr>
          </a:p>
          <a:p>
            <a:pPr indent="0" lvl="0" marL="0" marR="0" rtl="0" algn="just">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des clients Unknown</a:t>
            </a:r>
            <a:endParaRPr b="0" i="0" sz="1200" u="none" cap="none" strike="noStrike">
              <a:solidFill>
                <a:schemeClr val="dk1"/>
              </a:solidFill>
              <a:latin typeface="Calibri"/>
              <a:ea typeface="Calibri"/>
              <a:cs typeface="Calibri"/>
              <a:sym typeface="Calibri"/>
            </a:endParaRPr>
          </a:p>
        </p:txBody>
      </p:sp>
      <p:sp>
        <p:nvSpPr>
          <p:cNvPr id="96" name="Google Shape;96;p8"/>
          <p:cNvSpPr/>
          <p:nvPr/>
        </p:nvSpPr>
        <p:spPr>
          <a:xfrm>
            <a:off x="6155750" y="2807075"/>
            <a:ext cx="2454300" cy="1248900"/>
          </a:xfrm>
          <a:prstGeom prst="roundRect">
            <a:avLst>
              <a:gd fmla="val 8333" name="adj"/>
            </a:avLst>
          </a:prstGeom>
          <a:solidFill>
            <a:srgbClr val="FEF2F2"/>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a:off x="6511402" y="2992025"/>
            <a:ext cx="2031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2200"/>
              <a:buFont typeface="Cambria"/>
              <a:buNone/>
            </a:pPr>
            <a:r>
              <a:rPr b="1" i="0" lang="en-US" sz="2200" u="none" cap="none" strike="noStrike">
                <a:solidFill>
                  <a:srgbClr val="B91C1C"/>
                </a:solidFill>
                <a:latin typeface="Cambria"/>
                <a:ea typeface="Cambria"/>
                <a:cs typeface="Cambria"/>
                <a:sym typeface="Cambria"/>
              </a:rPr>
              <a:t>Non traçables</a:t>
            </a:r>
            <a:endParaRPr b="0" i="0" sz="2200" u="none" cap="none" strike="noStrike">
              <a:solidFill>
                <a:schemeClr val="dk1"/>
              </a:solidFill>
              <a:latin typeface="Calibri"/>
              <a:ea typeface="Calibri"/>
              <a:cs typeface="Calibri"/>
              <a:sym typeface="Calibri"/>
            </a:endParaRPr>
          </a:p>
        </p:txBody>
      </p:sp>
      <p:sp>
        <p:nvSpPr>
          <p:cNvPr id="98" name="Google Shape;98;p8"/>
          <p:cNvSpPr/>
          <p:nvPr/>
        </p:nvSpPr>
        <p:spPr>
          <a:xfrm>
            <a:off x="6386002" y="3449225"/>
            <a:ext cx="2156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 non fidélisables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sans création de compte</a:t>
            </a:r>
            <a:endParaRPr b="0" i="0" sz="1200" u="none" cap="none" strike="noStrike">
              <a:solidFill>
                <a:schemeClr val="dk1"/>
              </a:solidFill>
              <a:latin typeface="Calibri"/>
              <a:ea typeface="Calibri"/>
              <a:cs typeface="Calibri"/>
              <a:sym typeface="Calibri"/>
            </a:endParaRPr>
          </a:p>
        </p:txBody>
      </p:sp>
      <p:pic>
        <p:nvPicPr>
          <p:cNvPr id="99" name="Google Shape;99;p8" title="classement_TOP_client.png"/>
          <p:cNvPicPr preferRelativeResize="0"/>
          <p:nvPr/>
        </p:nvPicPr>
        <p:blipFill>
          <a:blip r:embed="rId3">
            <a:alphaModFix/>
          </a:blip>
          <a:stretch>
            <a:fillRect/>
          </a:stretch>
        </p:blipFill>
        <p:spPr>
          <a:xfrm>
            <a:off x="293325" y="945325"/>
            <a:ext cx="5580600" cy="38505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04" name="Shape 104"/>
        <p:cNvGrpSpPr/>
        <p:nvPr/>
      </p:nvGrpSpPr>
      <p:grpSpPr>
        <a:xfrm>
          <a:off x="0" y="0"/>
          <a:ext cx="0" cy="0"/>
          <a:chOff x="0" y="0"/>
          <a:chExt cx="0" cy="0"/>
        </a:xfrm>
      </p:grpSpPr>
      <p:sp>
        <p:nvSpPr>
          <p:cNvPr id="105" name="Google Shape;105;p9"/>
          <p:cNvSpPr/>
          <p:nvPr/>
        </p:nvSpPr>
        <p:spPr>
          <a:xfrm>
            <a:off x="457200" y="256032"/>
            <a:ext cx="82296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E2761"/>
              </a:buClr>
              <a:buSzPts val="2400"/>
              <a:buFont typeface="Cambria"/>
              <a:buNone/>
            </a:pPr>
            <a:r>
              <a:rPr b="1" lang="en-US" sz="2400">
                <a:solidFill>
                  <a:srgbClr val="1E2761"/>
                </a:solidFill>
                <a:latin typeface="Cambria"/>
                <a:ea typeface="Cambria"/>
                <a:cs typeface="Cambria"/>
                <a:sym typeface="Cambria"/>
              </a:rPr>
              <a:t>Un signal géographique très concentré:</a:t>
            </a:r>
            <a:endParaRPr b="1" sz="2400">
              <a:solidFill>
                <a:srgbClr val="1E2761"/>
              </a:solidFill>
              <a:latin typeface="Cambria"/>
              <a:ea typeface="Cambria"/>
              <a:cs typeface="Cambria"/>
              <a:sym typeface="Cambria"/>
            </a:endParaRPr>
          </a:p>
          <a:p>
            <a:pPr indent="0" lvl="0" marL="0" marR="0" rtl="0" algn="ctr">
              <a:spcBef>
                <a:spcPts val="0"/>
              </a:spcBef>
              <a:spcAft>
                <a:spcPts val="0"/>
              </a:spcAft>
              <a:buClr>
                <a:srgbClr val="1E2761"/>
              </a:buClr>
              <a:buSzPts val="2400"/>
              <a:buFont typeface="Cambria"/>
              <a:buNone/>
            </a:pPr>
            <a:r>
              <a:rPr b="1" lang="en-US" sz="1900">
                <a:solidFill>
                  <a:srgbClr val="1E2761"/>
                </a:solidFill>
                <a:latin typeface="Cambria"/>
                <a:ea typeface="Cambria"/>
                <a:cs typeface="Cambria"/>
                <a:sym typeface="Cambria"/>
              </a:rPr>
              <a:t>HONG KONG </a:t>
            </a:r>
            <a:endParaRPr b="1" sz="1900">
              <a:solidFill>
                <a:srgbClr val="1E2761"/>
              </a:solidFill>
              <a:latin typeface="Cambria"/>
              <a:ea typeface="Cambria"/>
              <a:cs typeface="Cambria"/>
              <a:sym typeface="Cambria"/>
            </a:endParaRPr>
          </a:p>
        </p:txBody>
      </p:sp>
      <p:sp>
        <p:nvSpPr>
          <p:cNvPr id="106" name="Google Shape;106;p9"/>
          <p:cNvSpPr/>
          <p:nvPr/>
        </p:nvSpPr>
        <p:spPr>
          <a:xfrm>
            <a:off x="6322400" y="1189625"/>
            <a:ext cx="2164500" cy="1245300"/>
          </a:xfrm>
          <a:prstGeom prst="roundRect">
            <a:avLst>
              <a:gd fmla="val 8333" name="adj"/>
            </a:avLst>
          </a:prstGeom>
          <a:solidFill>
            <a:srgbClr val="EFF6FF"/>
          </a:solidFill>
          <a:ln>
            <a:noFill/>
          </a:ln>
          <a:effectLst>
            <a:outerShdw blurRad="101600" rotWithShape="0" algn="bl" dir="27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9"/>
          <p:cNvSpPr/>
          <p:nvPr/>
        </p:nvSpPr>
        <p:spPr>
          <a:xfrm>
            <a:off x="6977400" y="1263525"/>
            <a:ext cx="68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ambria"/>
              <a:buNone/>
            </a:pPr>
            <a:r>
              <a:rPr b="1" i="0" lang="en-US" sz="2200" u="none" cap="none" strike="noStrike">
                <a:solidFill>
                  <a:srgbClr val="1E2761"/>
                </a:solidFill>
                <a:latin typeface="Cambria"/>
                <a:ea typeface="Cambria"/>
                <a:cs typeface="Cambria"/>
                <a:sym typeface="Cambria"/>
              </a:rPr>
              <a:t>276</a:t>
            </a:r>
            <a:endParaRPr b="0" i="0" sz="2200" u="none" cap="none" strike="noStrike">
              <a:solidFill>
                <a:schemeClr val="dk1"/>
              </a:solidFill>
              <a:latin typeface="Calibri"/>
              <a:ea typeface="Calibri"/>
              <a:cs typeface="Calibri"/>
              <a:sym typeface="Calibri"/>
            </a:endParaRPr>
          </a:p>
        </p:txBody>
      </p:sp>
      <p:sp>
        <p:nvSpPr>
          <p:cNvPr id="108" name="Google Shape;108;p9"/>
          <p:cNvSpPr/>
          <p:nvPr/>
        </p:nvSpPr>
        <p:spPr>
          <a:xfrm>
            <a:off x="6504050" y="1673525"/>
            <a:ext cx="1801200" cy="66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u="none" cap="none" strike="noStrike">
                <a:solidFill>
                  <a:srgbClr val="1E293B"/>
                </a:solidFill>
                <a:latin typeface="Calibri"/>
                <a:ea typeface="Calibri"/>
                <a:cs typeface="Calibri"/>
                <a:sym typeface="Calibri"/>
              </a:rPr>
              <a:t>transactions d'un seul</a:t>
            </a:r>
            <a:endParaRPr b="0" i="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rPr b="0" i="0" lang="en-US" u="none" cap="none" strike="noStrike">
                <a:solidFill>
                  <a:srgbClr val="1E293B"/>
                </a:solidFill>
                <a:latin typeface="Calibri"/>
                <a:ea typeface="Calibri"/>
                <a:cs typeface="Calibri"/>
                <a:sym typeface="Calibri"/>
              </a:rPr>
              <a:t>client Unknown à Hong Kong</a:t>
            </a:r>
            <a:endParaRPr b="0" i="0" u="none" cap="none" strike="noStrike">
              <a:solidFill>
                <a:schemeClr val="dk1"/>
              </a:solidFill>
              <a:latin typeface="Calibri"/>
              <a:ea typeface="Calibri"/>
              <a:cs typeface="Calibri"/>
              <a:sym typeface="Calibri"/>
            </a:endParaRPr>
          </a:p>
        </p:txBody>
      </p:sp>
      <p:sp>
        <p:nvSpPr>
          <p:cNvPr id="109" name="Google Shape;109;p9"/>
          <p:cNvSpPr/>
          <p:nvPr/>
        </p:nvSpPr>
        <p:spPr>
          <a:xfrm>
            <a:off x="457200" y="4511550"/>
            <a:ext cx="8046600" cy="548700"/>
          </a:xfrm>
          <a:prstGeom prst="roundRect">
            <a:avLst>
              <a:gd fmla="val 50000"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a:off x="457200" y="4511547"/>
            <a:ext cx="78639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Action · Rendre la création de compte obligatoire à la commande — identifier et fidéliser votre meilleur segment.</a:t>
            </a:r>
            <a:endParaRPr b="0" i="0" sz="1300" u="none" cap="none" strike="noStrike">
              <a:solidFill>
                <a:schemeClr val="dk1"/>
              </a:solidFill>
              <a:latin typeface="Calibri"/>
              <a:ea typeface="Calibri"/>
              <a:cs typeface="Calibri"/>
              <a:sym typeface="Calibri"/>
            </a:endParaRPr>
          </a:p>
        </p:txBody>
      </p:sp>
      <p:pic>
        <p:nvPicPr>
          <p:cNvPr id="111" name="Google Shape;111;p9" title="part_CA_unknown_par_pays.png"/>
          <p:cNvPicPr preferRelativeResize="0"/>
          <p:nvPr/>
        </p:nvPicPr>
        <p:blipFill>
          <a:blip r:embed="rId3">
            <a:alphaModFix/>
          </a:blip>
          <a:stretch>
            <a:fillRect/>
          </a:stretch>
        </p:blipFill>
        <p:spPr>
          <a:xfrm>
            <a:off x="152400" y="957125"/>
            <a:ext cx="5439701" cy="3373800"/>
          </a:xfrm>
          <a:prstGeom prst="rect">
            <a:avLst/>
          </a:prstGeom>
          <a:noFill/>
          <a:ln>
            <a:noFill/>
          </a:ln>
        </p:spPr>
      </p:pic>
      <p:pic>
        <p:nvPicPr>
          <p:cNvPr id="112" name="Google Shape;112;p9"/>
          <p:cNvPicPr preferRelativeResize="0"/>
          <p:nvPr/>
        </p:nvPicPr>
        <p:blipFill>
          <a:blip r:embed="rId4">
            <a:alphaModFix/>
          </a:blip>
          <a:stretch>
            <a:fillRect/>
          </a:stretch>
        </p:blipFill>
        <p:spPr>
          <a:xfrm>
            <a:off x="1036775" y="178925"/>
            <a:ext cx="597574" cy="597574"/>
          </a:xfrm>
          <a:prstGeom prst="rect">
            <a:avLst/>
          </a:prstGeom>
          <a:noFill/>
          <a:ln>
            <a:noFill/>
          </a:ln>
        </p:spPr>
      </p:pic>
      <p:sp>
        <p:nvSpPr>
          <p:cNvPr id="113" name="Google Shape;113;p9"/>
          <p:cNvSpPr/>
          <p:nvPr/>
        </p:nvSpPr>
        <p:spPr>
          <a:xfrm>
            <a:off x="6156600" y="2842738"/>
            <a:ext cx="2436900" cy="1367400"/>
          </a:xfrm>
          <a:prstGeom prst="roundRect">
            <a:avLst>
              <a:gd fmla="val 8333" name="adj"/>
            </a:avLst>
          </a:prstGeom>
          <a:solidFill>
            <a:srgbClr val="EFF6FF"/>
          </a:solidFill>
          <a:ln>
            <a:noFill/>
          </a:ln>
          <a:effectLst>
            <a:outerShdw blurRad="101600" rotWithShape="0" algn="bl" dir="27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
          <p:cNvSpPr/>
          <p:nvPr/>
        </p:nvSpPr>
        <p:spPr>
          <a:xfrm>
            <a:off x="6504050" y="2932350"/>
            <a:ext cx="1671600" cy="3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2200"/>
              <a:buFont typeface="Cambria"/>
              <a:buNone/>
            </a:pPr>
            <a:r>
              <a:rPr b="1" lang="en-US" sz="1600">
                <a:solidFill>
                  <a:srgbClr val="1E2761"/>
                </a:solidFill>
                <a:latin typeface="Cambria"/>
                <a:ea typeface="Cambria"/>
                <a:cs typeface="Cambria"/>
                <a:sym typeface="Cambria"/>
              </a:rPr>
              <a:t>Double incertidurude</a:t>
            </a:r>
            <a:endParaRPr b="0" i="0" sz="1600" u="none" cap="none" strike="noStrike">
              <a:solidFill>
                <a:schemeClr val="dk1"/>
              </a:solidFill>
              <a:latin typeface="Calibri"/>
              <a:ea typeface="Calibri"/>
              <a:cs typeface="Calibri"/>
              <a:sym typeface="Calibri"/>
            </a:endParaRPr>
          </a:p>
        </p:txBody>
      </p:sp>
      <p:sp>
        <p:nvSpPr>
          <p:cNvPr id="115" name="Google Shape;115;p9"/>
          <p:cNvSpPr/>
          <p:nvPr/>
        </p:nvSpPr>
        <p:spPr>
          <a:xfrm>
            <a:off x="6413150" y="3520400"/>
            <a:ext cx="1983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lang="en-US">
                <a:solidFill>
                  <a:srgbClr val="1E293B"/>
                </a:solidFill>
                <a:latin typeface="Calibri"/>
                <a:ea typeface="Calibri"/>
                <a:cs typeface="Calibri"/>
                <a:sym typeface="Calibri"/>
              </a:rPr>
              <a:t>les clients inconnus ont 44% en part de CA provenant de pays inconnus</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20" name="Shape 120"/>
        <p:cNvGrpSpPr/>
        <p:nvPr/>
      </p:nvGrpSpPr>
      <p:grpSpPr>
        <a:xfrm>
          <a:off x="0" y="0"/>
          <a:ext cx="0" cy="0"/>
          <a:chOff x="0" y="0"/>
          <a:chExt cx="0" cy="0"/>
        </a:xfrm>
      </p:grpSpPr>
      <p:sp>
        <p:nvSpPr>
          <p:cNvPr id="121" name="Google Shape;121;p10"/>
          <p:cNvSpPr/>
          <p:nvPr/>
        </p:nvSpPr>
        <p:spPr>
          <a:xfrm>
            <a:off x="1200150" y="256025"/>
            <a:ext cx="6635100" cy="701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400"/>
              <a:buFont typeface="Cambria"/>
              <a:buNone/>
            </a:pPr>
            <a:r>
              <a:rPr b="1" i="0" lang="en-US" sz="2400" u="none" cap="none" strike="noStrike">
                <a:solidFill>
                  <a:srgbClr val="1E2761"/>
                </a:solidFill>
                <a:latin typeface="Cambria"/>
                <a:ea typeface="Cambria"/>
                <a:cs typeface="Cambria"/>
                <a:sym typeface="Cambria"/>
              </a:rPr>
              <a:t>84,7% du CA vient du Royaume-Uni </a:t>
            </a:r>
            <a:r>
              <a:rPr b="1" lang="en-US" sz="2400">
                <a:solidFill>
                  <a:srgbClr val="1E2761"/>
                </a:solidFill>
                <a:latin typeface="Cambria"/>
                <a:ea typeface="Cambria"/>
                <a:cs typeface="Cambria"/>
                <a:sym typeface="Cambria"/>
              </a:rPr>
              <a:t>:</a:t>
            </a:r>
            <a:r>
              <a:rPr b="1" i="0" lang="en-US" sz="2400" u="none" cap="none" strike="noStrike">
                <a:solidFill>
                  <a:srgbClr val="1E2761"/>
                </a:solidFill>
                <a:latin typeface="Cambria"/>
                <a:ea typeface="Cambria"/>
                <a:cs typeface="Cambria"/>
                <a:sym typeface="Cambria"/>
              </a:rPr>
              <a:t> une force et un risque</a:t>
            </a:r>
            <a:endParaRPr b="0" i="0" sz="2400" u="none" cap="none" strike="noStrike">
              <a:solidFill>
                <a:schemeClr val="dk1"/>
              </a:solidFill>
              <a:latin typeface="Calibri"/>
              <a:ea typeface="Calibri"/>
              <a:cs typeface="Calibri"/>
              <a:sym typeface="Calibri"/>
            </a:endParaRPr>
          </a:p>
        </p:txBody>
      </p:sp>
      <p:sp>
        <p:nvSpPr>
          <p:cNvPr id="122" name="Google Shape;122;p10"/>
          <p:cNvSpPr/>
          <p:nvPr/>
        </p:nvSpPr>
        <p:spPr>
          <a:xfrm>
            <a:off x="6167500" y="960125"/>
            <a:ext cx="2519400" cy="1417200"/>
          </a:xfrm>
          <a:prstGeom prst="roundRect">
            <a:avLst>
              <a:gd fmla="val 6452" name="adj"/>
            </a:avLst>
          </a:prstGeom>
          <a:solidFill>
            <a:srgbClr val="ECFDF5"/>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0"/>
          <p:cNvSpPr/>
          <p:nvPr/>
        </p:nvSpPr>
        <p:spPr>
          <a:xfrm>
            <a:off x="6167500" y="983025"/>
            <a:ext cx="22452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857"/>
              </a:buClr>
              <a:buSzPts val="1300"/>
              <a:buFont typeface="Calibri"/>
              <a:buNone/>
            </a:pPr>
            <a:r>
              <a:rPr b="1" i="0" lang="en-US" sz="1900" u="none" cap="none" strike="noStrike">
                <a:solidFill>
                  <a:srgbClr val="047857"/>
                </a:solidFill>
                <a:latin typeface="Calibri"/>
                <a:ea typeface="Calibri"/>
                <a:cs typeface="Calibri"/>
                <a:sym typeface="Calibri"/>
              </a:rPr>
              <a:t>✅  Opportunité</a:t>
            </a:r>
            <a:endParaRPr b="0" i="0" sz="1900" u="none" cap="none" strike="noStrike">
              <a:solidFill>
                <a:schemeClr val="dk1"/>
              </a:solidFill>
              <a:latin typeface="Calibri"/>
              <a:ea typeface="Calibri"/>
              <a:cs typeface="Calibri"/>
              <a:sym typeface="Calibri"/>
            </a:endParaRPr>
          </a:p>
        </p:txBody>
      </p:sp>
      <p:sp>
        <p:nvSpPr>
          <p:cNvPr id="124" name="Google Shape;124;p10"/>
          <p:cNvSpPr/>
          <p:nvPr/>
        </p:nvSpPr>
        <p:spPr>
          <a:xfrm>
            <a:off x="6241675" y="1430950"/>
            <a:ext cx="2519400" cy="8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0" i="0" lang="en-US" sz="1700" u="none" cap="none" strike="noStrike">
                <a:solidFill>
                  <a:srgbClr val="1E293B"/>
                </a:solidFill>
                <a:latin typeface="Calibri"/>
                <a:ea typeface="Calibri"/>
                <a:cs typeface="Calibri"/>
                <a:sym typeface="Calibri"/>
              </a:rPr>
              <a:t>Marché UK solide et fiable.</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200"/>
              <a:buFont typeface="Calibri"/>
              <a:buNone/>
            </a:pPr>
            <a:r>
              <a:rPr b="0" i="0" lang="en-US" sz="1700" u="none" cap="none" strike="noStrike">
                <a:solidFill>
                  <a:srgbClr val="1E293B"/>
                </a:solidFill>
                <a:latin typeface="Calibri"/>
                <a:ea typeface="Calibri"/>
                <a:cs typeface="Calibri"/>
                <a:sym typeface="Calibri"/>
              </a:rPr>
              <a:t>Concentration à consolider.</a:t>
            </a:r>
            <a:endParaRPr b="0" i="0" sz="1700" u="none" cap="none" strike="noStrike">
              <a:solidFill>
                <a:schemeClr val="dk1"/>
              </a:solidFill>
              <a:latin typeface="Calibri"/>
              <a:ea typeface="Calibri"/>
              <a:cs typeface="Calibri"/>
              <a:sym typeface="Calibri"/>
            </a:endParaRPr>
          </a:p>
        </p:txBody>
      </p:sp>
      <p:sp>
        <p:nvSpPr>
          <p:cNvPr id="125" name="Google Shape;125;p10"/>
          <p:cNvSpPr/>
          <p:nvPr/>
        </p:nvSpPr>
        <p:spPr>
          <a:xfrm>
            <a:off x="6167400" y="2560325"/>
            <a:ext cx="2519400" cy="1417200"/>
          </a:xfrm>
          <a:prstGeom prst="roundRect">
            <a:avLst>
              <a:gd fmla="val 6452" name="adj"/>
            </a:avLst>
          </a:prstGeom>
          <a:solidFill>
            <a:srgbClr val="FEF2F2"/>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p:cNvSpPr/>
          <p:nvPr/>
        </p:nvSpPr>
        <p:spPr>
          <a:xfrm>
            <a:off x="6543275" y="2624325"/>
            <a:ext cx="2006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300"/>
              <a:buFont typeface="Calibri"/>
              <a:buNone/>
            </a:pPr>
            <a:r>
              <a:rPr b="1" i="0" lang="en-US" sz="1900" u="none" cap="none" strike="noStrike">
                <a:solidFill>
                  <a:srgbClr val="B91C1C"/>
                </a:solidFill>
                <a:latin typeface="Calibri"/>
                <a:ea typeface="Calibri"/>
                <a:cs typeface="Calibri"/>
                <a:sym typeface="Calibri"/>
              </a:rPr>
              <a:t>⚠️  Risque de concentration</a:t>
            </a:r>
            <a:endParaRPr b="0" i="0" sz="1900" u="none" cap="none" strike="noStrike">
              <a:solidFill>
                <a:schemeClr val="dk1"/>
              </a:solidFill>
              <a:latin typeface="Calibri"/>
              <a:ea typeface="Calibri"/>
              <a:cs typeface="Calibri"/>
              <a:sym typeface="Calibri"/>
            </a:endParaRPr>
          </a:p>
        </p:txBody>
      </p:sp>
      <p:sp>
        <p:nvSpPr>
          <p:cNvPr id="127" name="Google Shape;127;p10"/>
          <p:cNvSpPr/>
          <p:nvPr/>
        </p:nvSpPr>
        <p:spPr>
          <a:xfrm>
            <a:off x="6241672" y="3010588"/>
            <a:ext cx="2245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lang="en-US" sz="1500">
                <a:solidFill>
                  <a:srgbClr val="1E293B"/>
                </a:solidFill>
                <a:latin typeface="Calibri"/>
                <a:ea typeface="Calibri"/>
                <a:cs typeface="Calibri"/>
                <a:sym typeface="Calibri"/>
              </a:rPr>
              <a:t>Aucun marché de sécurité en cas de turbulences sur UK</a:t>
            </a:r>
            <a:endParaRPr b="0" i="0" sz="1500" u="none" cap="none" strike="noStrike">
              <a:solidFill>
                <a:schemeClr val="dk1"/>
              </a:solidFill>
              <a:latin typeface="Calibri"/>
              <a:ea typeface="Calibri"/>
              <a:cs typeface="Calibri"/>
              <a:sym typeface="Calibri"/>
            </a:endParaRPr>
          </a:p>
        </p:txBody>
      </p:sp>
      <p:sp>
        <p:nvSpPr>
          <p:cNvPr id="128" name="Google Shape;128;p10"/>
          <p:cNvSpPr/>
          <p:nvPr/>
        </p:nvSpPr>
        <p:spPr>
          <a:xfrm>
            <a:off x="390500" y="4480546"/>
            <a:ext cx="8229600" cy="502800"/>
          </a:xfrm>
          <a:prstGeom prst="roundRect">
            <a:avLst>
              <a:gd fmla="val 1111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0"/>
          <p:cNvSpPr/>
          <p:nvPr/>
        </p:nvSpPr>
        <p:spPr>
          <a:xfrm>
            <a:off x="457200" y="4558246"/>
            <a:ext cx="78639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1" lang="en-US" u="none" cap="none" strike="noStrike">
                <a:solidFill>
                  <a:srgbClr val="FFFFFF"/>
                </a:solidFill>
                <a:latin typeface="Calibri"/>
                <a:ea typeface="Calibri"/>
                <a:cs typeface="Calibri"/>
                <a:sym typeface="Calibri"/>
              </a:rPr>
              <a:t>Question stratégique · La boutique souhaite-t-elle consolider le marché UK ou engager une diversification internationale ?</a:t>
            </a:r>
            <a:endParaRPr b="0" i="0" u="none" cap="none" strike="noStrike">
              <a:solidFill>
                <a:schemeClr val="dk1"/>
              </a:solidFill>
              <a:latin typeface="Calibri"/>
              <a:ea typeface="Calibri"/>
              <a:cs typeface="Calibri"/>
              <a:sym typeface="Calibri"/>
            </a:endParaRPr>
          </a:p>
        </p:txBody>
      </p:sp>
      <p:pic>
        <p:nvPicPr>
          <p:cNvPr id="130" name="Google Shape;130;p10" title="CA_par_pays.png"/>
          <p:cNvPicPr preferRelativeResize="0"/>
          <p:nvPr/>
        </p:nvPicPr>
        <p:blipFill>
          <a:blip r:embed="rId3">
            <a:alphaModFix/>
          </a:blip>
          <a:stretch>
            <a:fillRect/>
          </a:stretch>
        </p:blipFill>
        <p:spPr>
          <a:xfrm>
            <a:off x="883075" y="1061475"/>
            <a:ext cx="4967352" cy="3159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35" name="Shape 135"/>
        <p:cNvGrpSpPr/>
        <p:nvPr/>
      </p:nvGrpSpPr>
      <p:grpSpPr>
        <a:xfrm>
          <a:off x="0" y="0"/>
          <a:ext cx="0" cy="0"/>
          <a:chOff x="0" y="0"/>
          <a:chExt cx="0" cy="0"/>
        </a:xfrm>
      </p:grpSpPr>
      <p:sp>
        <p:nvSpPr>
          <p:cNvPr id="136" name="Google Shape;136;p11"/>
          <p:cNvSpPr/>
          <p:nvPr/>
        </p:nvSpPr>
        <p:spPr>
          <a:xfrm>
            <a:off x="457200" y="256032"/>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761"/>
              </a:buClr>
              <a:buSzPts val="2400"/>
              <a:buFont typeface="Cambria"/>
              <a:buNone/>
            </a:pPr>
            <a:r>
              <a:rPr b="1" i="0" lang="en-US" sz="2400" u="none" cap="none" strike="noStrike">
                <a:solidFill>
                  <a:srgbClr val="1E2761"/>
                </a:solidFill>
                <a:latin typeface="Cambria"/>
                <a:ea typeface="Cambria"/>
                <a:cs typeface="Cambria"/>
                <a:sym typeface="Cambria"/>
              </a:rPr>
              <a:t>Sept – Nov : votre saison. Janv – Avr : votre zone de risque</a:t>
            </a:r>
            <a:endParaRPr b="0" i="0" sz="2400" u="none" cap="none" strike="noStrike">
              <a:solidFill>
                <a:schemeClr val="dk1"/>
              </a:solidFill>
              <a:latin typeface="Calibri"/>
              <a:ea typeface="Calibri"/>
              <a:cs typeface="Calibri"/>
              <a:sym typeface="Calibri"/>
            </a:endParaRPr>
          </a:p>
        </p:txBody>
      </p:sp>
      <p:sp>
        <p:nvSpPr>
          <p:cNvPr id="137" name="Google Shape;137;p11"/>
          <p:cNvSpPr/>
          <p:nvPr/>
        </p:nvSpPr>
        <p:spPr>
          <a:xfrm>
            <a:off x="457200" y="4069080"/>
            <a:ext cx="1965960" cy="868680"/>
          </a:xfrm>
          <a:prstGeom prst="roundRect">
            <a:avLst>
              <a:gd fmla="val 8421" name="adj"/>
            </a:avLst>
          </a:prstGeom>
          <a:solidFill>
            <a:srgbClr val="EFF6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p:cNvSpPr/>
          <p:nvPr/>
        </p:nvSpPr>
        <p:spPr>
          <a:xfrm>
            <a:off x="548640" y="4114800"/>
            <a:ext cx="17830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800"/>
              <a:buFont typeface="Cambria"/>
              <a:buNone/>
            </a:pPr>
            <a:r>
              <a:rPr b="1" i="0" lang="en-US" sz="1800" u="none" cap="none" strike="noStrike">
                <a:solidFill>
                  <a:srgbClr val="1E2761"/>
                </a:solidFill>
                <a:latin typeface="Cambria"/>
                <a:ea typeface="Cambria"/>
                <a:cs typeface="Cambria"/>
                <a:sym typeface="Cambria"/>
              </a:rPr>
              <a:t>Jeudi</a:t>
            </a:r>
            <a:endParaRPr b="0" i="0" sz="1800" u="none" cap="none" strike="noStrike">
              <a:solidFill>
                <a:schemeClr val="dk1"/>
              </a:solidFill>
              <a:latin typeface="Calibri"/>
              <a:ea typeface="Calibri"/>
              <a:cs typeface="Calibri"/>
              <a:sym typeface="Calibri"/>
            </a:endParaRPr>
          </a:p>
        </p:txBody>
      </p:sp>
      <p:sp>
        <p:nvSpPr>
          <p:cNvPr id="139" name="Google Shape;139;p11"/>
          <p:cNvSpPr/>
          <p:nvPr/>
        </p:nvSpPr>
        <p:spPr>
          <a:xfrm>
            <a:off x="530352" y="4453128"/>
            <a:ext cx="181965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b="0" i="0" lang="en-US" sz="1600" u="none" cap="none" strike="noStrike">
                <a:solidFill>
                  <a:srgbClr val="64748B"/>
                </a:solidFill>
                <a:latin typeface="Calibri"/>
                <a:ea typeface="Calibri"/>
                <a:cs typeface="Calibri"/>
                <a:sym typeface="Calibri"/>
              </a:rPr>
              <a:t>jour le plus actif</a:t>
            </a:r>
            <a:endParaRPr b="0" i="0" sz="1600" u="none" cap="none" strike="noStrike">
              <a:solidFill>
                <a:schemeClr val="dk1"/>
              </a:solidFill>
              <a:latin typeface="Calibri"/>
              <a:ea typeface="Calibri"/>
              <a:cs typeface="Calibri"/>
              <a:sym typeface="Calibri"/>
            </a:endParaRPr>
          </a:p>
        </p:txBody>
      </p:sp>
      <p:sp>
        <p:nvSpPr>
          <p:cNvPr id="140" name="Google Shape;140;p11"/>
          <p:cNvSpPr/>
          <p:nvPr/>
        </p:nvSpPr>
        <p:spPr>
          <a:xfrm>
            <a:off x="2606040" y="4069080"/>
            <a:ext cx="1965960" cy="868680"/>
          </a:xfrm>
          <a:prstGeom prst="roundRect">
            <a:avLst>
              <a:gd fmla="val 8421" name="adj"/>
            </a:avLst>
          </a:prstGeom>
          <a:solidFill>
            <a:srgbClr val="FFFFFF"/>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
          <p:cNvSpPr/>
          <p:nvPr/>
        </p:nvSpPr>
        <p:spPr>
          <a:xfrm>
            <a:off x="2697480" y="4114800"/>
            <a:ext cx="17830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800"/>
              <a:buFont typeface="Cambria"/>
              <a:buNone/>
            </a:pPr>
            <a:r>
              <a:rPr b="1" i="0" lang="en-US" sz="1800" u="none" cap="none" strike="noStrike">
                <a:solidFill>
                  <a:srgbClr val="64748B"/>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42" name="Google Shape;142;p11"/>
          <p:cNvSpPr/>
          <p:nvPr/>
        </p:nvSpPr>
        <p:spPr>
          <a:xfrm>
            <a:off x="2679192" y="4453128"/>
            <a:ext cx="181965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b="0" i="0" lang="en-US" sz="1100" u="none" cap="none" strike="noStrike">
                <a:solidFill>
                  <a:srgbClr val="64748B"/>
                </a:solidFill>
                <a:latin typeface="Calibri"/>
                <a:ea typeface="Calibri"/>
                <a:cs typeface="Calibri"/>
                <a:sym typeface="Calibri"/>
              </a:rPr>
              <a:t>moins de volume le dimanche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900"/>
              <a:buFont typeface="Calibri"/>
              <a:buNone/>
            </a:pPr>
            <a:r>
              <a:rPr b="0" i="0" lang="en-US" sz="1100" u="none" cap="none" strike="noStrike">
                <a:solidFill>
                  <a:srgbClr val="64748B"/>
                </a:solidFill>
                <a:latin typeface="Calibri"/>
                <a:ea typeface="Calibri"/>
                <a:cs typeface="Calibri"/>
                <a:sym typeface="Calibri"/>
              </a:rPr>
              <a:t>vs jeudi</a:t>
            </a:r>
            <a:endParaRPr b="0" i="0" sz="1100" u="none" cap="none" strike="noStrike">
              <a:solidFill>
                <a:schemeClr val="dk1"/>
              </a:solidFill>
              <a:latin typeface="Calibri"/>
              <a:ea typeface="Calibri"/>
              <a:cs typeface="Calibri"/>
              <a:sym typeface="Calibri"/>
            </a:endParaRPr>
          </a:p>
        </p:txBody>
      </p:sp>
      <p:sp>
        <p:nvSpPr>
          <p:cNvPr id="143" name="Google Shape;143;p11"/>
          <p:cNvSpPr/>
          <p:nvPr/>
        </p:nvSpPr>
        <p:spPr>
          <a:xfrm>
            <a:off x="4754880" y="4069080"/>
            <a:ext cx="1965960" cy="868680"/>
          </a:xfrm>
          <a:prstGeom prst="roundRect">
            <a:avLst>
              <a:gd fmla="val 8421" name="adj"/>
            </a:avLst>
          </a:prstGeom>
          <a:solidFill>
            <a:srgbClr val="FEF2F2"/>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a:off x="4846320" y="4114800"/>
            <a:ext cx="17830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1800"/>
              <a:buFont typeface="Cambria"/>
              <a:buNone/>
            </a:pPr>
            <a:r>
              <a:rPr b="1" i="0" lang="en-US" sz="1800" u="none" cap="none" strike="noStrike">
                <a:solidFill>
                  <a:srgbClr val="B91C1C"/>
                </a:solidFill>
                <a:latin typeface="Cambria"/>
                <a:ea typeface="Cambria"/>
                <a:cs typeface="Cambria"/>
                <a:sym typeface="Cambria"/>
              </a:rPr>
              <a:t>Avril</a:t>
            </a:r>
            <a:endParaRPr b="0" i="0" sz="1800" u="none" cap="none" strike="noStrike">
              <a:solidFill>
                <a:schemeClr val="dk1"/>
              </a:solidFill>
              <a:latin typeface="Calibri"/>
              <a:ea typeface="Calibri"/>
              <a:cs typeface="Calibri"/>
              <a:sym typeface="Calibri"/>
            </a:endParaRPr>
          </a:p>
        </p:txBody>
      </p:sp>
      <p:sp>
        <p:nvSpPr>
          <p:cNvPr id="145" name="Google Shape;145;p11"/>
          <p:cNvSpPr/>
          <p:nvPr/>
        </p:nvSpPr>
        <p:spPr>
          <a:xfrm>
            <a:off x="4828032" y="4453128"/>
            <a:ext cx="181965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b="0" i="0" lang="en-US" sz="1600" u="none" cap="none" strike="noStrike">
                <a:solidFill>
                  <a:srgbClr val="64748B"/>
                </a:solidFill>
                <a:latin typeface="Calibri"/>
                <a:ea typeface="Calibri"/>
                <a:cs typeface="Calibri"/>
                <a:sym typeface="Calibri"/>
              </a:rPr>
              <a:t>point bas annuel</a:t>
            </a:r>
            <a:endParaRPr b="0" i="0" sz="1600" u="none" cap="none" strike="noStrike">
              <a:solidFill>
                <a:schemeClr val="dk1"/>
              </a:solidFill>
              <a:latin typeface="Calibri"/>
              <a:ea typeface="Calibri"/>
              <a:cs typeface="Calibri"/>
              <a:sym typeface="Calibri"/>
            </a:endParaRPr>
          </a:p>
        </p:txBody>
      </p:sp>
      <p:sp>
        <p:nvSpPr>
          <p:cNvPr id="146" name="Google Shape;146;p11"/>
          <p:cNvSpPr/>
          <p:nvPr/>
        </p:nvSpPr>
        <p:spPr>
          <a:xfrm>
            <a:off x="6903720" y="4069080"/>
            <a:ext cx="1965960" cy="868680"/>
          </a:xfrm>
          <a:prstGeom prst="roundRect">
            <a:avLst>
              <a:gd fmla="val 8421" name="adj"/>
            </a:avLst>
          </a:prstGeom>
          <a:solidFill>
            <a:srgbClr val="ECFDF5"/>
          </a:solidFill>
          <a:ln>
            <a:noFill/>
          </a:ln>
          <a:effectLst>
            <a:outerShdw blurRad="1016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a:off x="6995160" y="4114800"/>
            <a:ext cx="178308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47857"/>
              </a:buClr>
              <a:buSzPts val="1800"/>
              <a:buFont typeface="Cambria"/>
              <a:buNone/>
            </a:pPr>
            <a:r>
              <a:rPr b="1" i="0" lang="en-US" sz="1800" u="none" cap="none" strike="noStrike">
                <a:solidFill>
                  <a:srgbClr val="047857"/>
                </a:solidFill>
                <a:latin typeface="Cambria"/>
                <a:ea typeface="Cambria"/>
                <a:cs typeface="Cambria"/>
                <a:sym typeface="Cambria"/>
              </a:rPr>
              <a:t>Novembre</a:t>
            </a:r>
            <a:endParaRPr b="0" i="0" sz="1800" u="none" cap="none" strike="noStrike">
              <a:solidFill>
                <a:schemeClr val="dk1"/>
              </a:solidFill>
              <a:latin typeface="Calibri"/>
              <a:ea typeface="Calibri"/>
              <a:cs typeface="Calibri"/>
              <a:sym typeface="Calibri"/>
            </a:endParaRPr>
          </a:p>
        </p:txBody>
      </p:sp>
      <p:sp>
        <p:nvSpPr>
          <p:cNvPr id="148" name="Google Shape;148;p11"/>
          <p:cNvSpPr/>
          <p:nvPr/>
        </p:nvSpPr>
        <p:spPr>
          <a:xfrm>
            <a:off x="6976872" y="4453128"/>
            <a:ext cx="181965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b="0" i="0" lang="en-US" u="none" cap="none" strike="noStrike">
                <a:solidFill>
                  <a:srgbClr val="64748B"/>
                </a:solidFill>
                <a:latin typeface="Calibri"/>
                <a:ea typeface="Calibri"/>
                <a:cs typeface="Calibri"/>
                <a:sym typeface="Calibri"/>
              </a:rPr>
              <a:t>meilleur mois de l'année</a:t>
            </a:r>
            <a:endParaRPr b="0" i="0" u="none" cap="none" strike="noStrike">
              <a:solidFill>
                <a:schemeClr val="dk1"/>
              </a:solidFill>
              <a:latin typeface="Calibri"/>
              <a:ea typeface="Calibri"/>
              <a:cs typeface="Calibri"/>
              <a:sym typeface="Calibri"/>
            </a:endParaRPr>
          </a:p>
        </p:txBody>
      </p:sp>
      <p:pic>
        <p:nvPicPr>
          <p:cNvPr id="149" name="Google Shape;149;p11" title="saisonnalité_et_jours_de_ventes.png"/>
          <p:cNvPicPr preferRelativeResize="0"/>
          <p:nvPr/>
        </p:nvPicPr>
        <p:blipFill>
          <a:blip r:embed="rId3">
            <a:alphaModFix/>
          </a:blip>
          <a:stretch>
            <a:fillRect/>
          </a:stretch>
        </p:blipFill>
        <p:spPr>
          <a:xfrm>
            <a:off x="152400" y="957075"/>
            <a:ext cx="8457677" cy="2959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4" name="Shape 154"/>
        <p:cNvGrpSpPr/>
        <p:nvPr/>
      </p:nvGrpSpPr>
      <p:grpSpPr>
        <a:xfrm>
          <a:off x="0" y="0"/>
          <a:ext cx="0" cy="0"/>
          <a:chOff x="0" y="0"/>
          <a:chExt cx="0" cy="0"/>
        </a:xfrm>
      </p:grpSpPr>
      <p:sp>
        <p:nvSpPr>
          <p:cNvPr id="155" name="Google Shape;155;p12"/>
          <p:cNvSpPr/>
          <p:nvPr/>
        </p:nvSpPr>
        <p:spPr>
          <a:xfrm>
            <a:off x="457200" y="256032"/>
            <a:ext cx="8229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Ce que les données ne nous permettent pas de conclure</a:t>
            </a:r>
            <a:endParaRPr b="0" i="0" sz="2400" u="none" cap="none" strike="noStrike">
              <a:solidFill>
                <a:schemeClr val="dk1"/>
              </a:solidFill>
              <a:latin typeface="Calibri"/>
              <a:ea typeface="Calibri"/>
              <a:cs typeface="Calibri"/>
              <a:sym typeface="Calibri"/>
            </a:endParaRPr>
          </a:p>
        </p:txBody>
      </p:sp>
      <p:sp>
        <p:nvSpPr>
          <p:cNvPr id="156" name="Google Shape;156;p12"/>
          <p:cNvSpPr/>
          <p:nvPr/>
        </p:nvSpPr>
        <p:spPr>
          <a:xfrm>
            <a:off x="457200" y="82296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Points de vigilance à garder en tête dans les décisions</a:t>
            </a:r>
            <a:endParaRPr b="0" i="0" sz="1300" u="none" cap="none" strike="noStrike">
              <a:solidFill>
                <a:schemeClr val="dk1"/>
              </a:solidFill>
              <a:latin typeface="Calibri"/>
              <a:ea typeface="Calibri"/>
              <a:cs typeface="Calibri"/>
              <a:sym typeface="Calibri"/>
            </a:endParaRPr>
          </a:p>
        </p:txBody>
      </p:sp>
      <p:sp>
        <p:nvSpPr>
          <p:cNvPr id="157" name="Google Shape;157;p12"/>
          <p:cNvSpPr/>
          <p:nvPr/>
        </p:nvSpPr>
        <p:spPr>
          <a:xfrm>
            <a:off x="457200" y="1280160"/>
            <a:ext cx="4023360" cy="1508760"/>
          </a:xfrm>
          <a:prstGeom prst="roundRect">
            <a:avLst>
              <a:gd fmla="val 6061" name="adj"/>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
          <p:cNvSpPr/>
          <p:nvPr/>
        </p:nvSpPr>
        <p:spPr>
          <a:xfrm>
            <a:off x="1462102" y="1476050"/>
            <a:ext cx="25095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900" u="none" cap="none" strike="noStrike">
                <a:solidFill>
                  <a:srgbClr val="FFFFFF"/>
                </a:solidFill>
                <a:latin typeface="Calibri"/>
                <a:ea typeface="Calibri"/>
                <a:cs typeface="Calibri"/>
                <a:sym typeface="Calibri"/>
              </a:rPr>
              <a:t> Décembres tronqués</a:t>
            </a:r>
            <a:endParaRPr b="0" i="0" sz="1900" u="none" cap="none" strike="noStrike">
              <a:solidFill>
                <a:schemeClr val="dk1"/>
              </a:solidFill>
              <a:latin typeface="Calibri"/>
              <a:ea typeface="Calibri"/>
              <a:cs typeface="Calibri"/>
              <a:sym typeface="Calibri"/>
            </a:endParaRPr>
          </a:p>
        </p:txBody>
      </p:sp>
      <p:sp>
        <p:nvSpPr>
          <p:cNvPr id="159" name="Google Shape;159;p12"/>
          <p:cNvSpPr/>
          <p:nvPr/>
        </p:nvSpPr>
        <p:spPr>
          <a:xfrm>
            <a:off x="640080" y="1810512"/>
            <a:ext cx="3657600" cy="86868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Clr>
                <a:srgbClr val="CADCFC"/>
              </a:buClr>
              <a:buSzPts val="1150"/>
              <a:buFont typeface="Calibri"/>
              <a:buNone/>
            </a:pPr>
            <a:r>
              <a:rPr b="0" i="0" lang="en-US" sz="1450" u="none" cap="none" strike="noStrike">
                <a:solidFill>
                  <a:srgbClr val="CADCFC"/>
                </a:solidFill>
                <a:latin typeface="Calibri"/>
                <a:ea typeface="Calibri"/>
                <a:cs typeface="Calibri"/>
                <a:sym typeface="Calibri"/>
              </a:rPr>
              <a:t>2010 (23 jours) et 2011 (8 jours) exclus.</a:t>
            </a:r>
            <a:endParaRPr b="0" i="0" sz="1450" u="none" cap="none" strike="noStrike">
              <a:solidFill>
                <a:schemeClr val="dk1"/>
              </a:solidFill>
              <a:latin typeface="Calibri"/>
              <a:ea typeface="Calibri"/>
              <a:cs typeface="Calibri"/>
              <a:sym typeface="Calibri"/>
            </a:endParaRPr>
          </a:p>
          <a:p>
            <a:pPr indent="0" lvl="0" marL="0" marR="0" rtl="0" algn="just">
              <a:spcBef>
                <a:spcPts val="0"/>
              </a:spcBef>
              <a:spcAft>
                <a:spcPts val="0"/>
              </a:spcAft>
              <a:buClr>
                <a:srgbClr val="CADCFC"/>
              </a:buClr>
              <a:buSzPts val="1150"/>
              <a:buFont typeface="Calibri"/>
              <a:buNone/>
            </a:pPr>
            <a:r>
              <a:rPr b="0" i="0" lang="en-US" sz="1450" u="none" cap="none" strike="noStrike">
                <a:solidFill>
                  <a:srgbClr val="CADCFC"/>
                </a:solidFill>
                <a:latin typeface="Calibri"/>
                <a:ea typeface="Calibri"/>
                <a:cs typeface="Calibri"/>
                <a:sym typeface="Calibri"/>
              </a:rPr>
              <a:t>Le pic réel de fin d'année reste non mesuré.</a:t>
            </a:r>
            <a:endParaRPr b="0" i="0" sz="1450" u="none" cap="none" strike="noStrike">
              <a:solidFill>
                <a:schemeClr val="dk1"/>
              </a:solidFill>
              <a:latin typeface="Calibri"/>
              <a:ea typeface="Calibri"/>
              <a:cs typeface="Calibri"/>
              <a:sym typeface="Calibri"/>
            </a:endParaRPr>
          </a:p>
        </p:txBody>
      </p:sp>
      <p:sp>
        <p:nvSpPr>
          <p:cNvPr id="160" name="Google Shape;160;p12"/>
          <p:cNvSpPr/>
          <p:nvPr/>
        </p:nvSpPr>
        <p:spPr>
          <a:xfrm>
            <a:off x="457225" y="2971825"/>
            <a:ext cx="4023300" cy="1508700"/>
          </a:xfrm>
          <a:prstGeom prst="roundRect">
            <a:avLst>
              <a:gd fmla="val 6061" name="adj"/>
            </a:avLst>
          </a:prstGeom>
          <a:solidFill>
            <a:srgbClr val="6474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2"/>
          <p:cNvSpPr/>
          <p:nvPr/>
        </p:nvSpPr>
        <p:spPr>
          <a:xfrm>
            <a:off x="1300650" y="3108950"/>
            <a:ext cx="29970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900" u="none" cap="none" strike="noStrike">
                <a:solidFill>
                  <a:srgbClr val="FFFFFF"/>
                </a:solidFill>
                <a:latin typeface="Calibri"/>
                <a:ea typeface="Calibri"/>
                <a:cs typeface="Calibri"/>
                <a:sym typeface="Calibri"/>
              </a:rPr>
              <a:t> Une seule année analysée</a:t>
            </a:r>
            <a:endParaRPr b="0" i="0" sz="1900" u="none" cap="none" strike="noStrike">
              <a:solidFill>
                <a:schemeClr val="dk1"/>
              </a:solidFill>
              <a:latin typeface="Calibri"/>
              <a:ea typeface="Calibri"/>
              <a:cs typeface="Calibri"/>
              <a:sym typeface="Calibri"/>
            </a:endParaRPr>
          </a:p>
        </p:txBody>
      </p:sp>
      <p:sp>
        <p:nvSpPr>
          <p:cNvPr id="162" name="Google Shape;162;p12"/>
          <p:cNvSpPr/>
          <p:nvPr/>
        </p:nvSpPr>
        <p:spPr>
          <a:xfrm>
            <a:off x="640080" y="3502152"/>
            <a:ext cx="36576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550" u="none" cap="none" strike="noStrike">
                <a:solidFill>
                  <a:srgbClr val="CADCFC"/>
                </a:solidFill>
                <a:latin typeface="Calibri"/>
                <a:ea typeface="Calibri"/>
                <a:cs typeface="Calibri"/>
                <a:sym typeface="Calibri"/>
              </a:rPr>
              <a:t>Impossible de qualifier la saisonnalité</a:t>
            </a:r>
            <a:endParaRPr b="0" i="0" sz="15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150"/>
              <a:buFont typeface="Calibri"/>
              <a:buNone/>
            </a:pPr>
            <a:r>
              <a:rPr b="0" i="0" lang="en-US" sz="1550" u="none" cap="none" strike="noStrike">
                <a:solidFill>
                  <a:srgbClr val="CADCFC"/>
                </a:solidFill>
                <a:latin typeface="Calibri"/>
                <a:ea typeface="Calibri"/>
                <a:cs typeface="Calibri"/>
                <a:sym typeface="Calibri"/>
              </a:rPr>
              <a:t>comme récurrente ou structurelle.</a:t>
            </a:r>
            <a:endParaRPr b="0" i="0" sz="1550" u="none" cap="none" strike="noStrike">
              <a:solidFill>
                <a:schemeClr val="dk1"/>
              </a:solidFill>
              <a:latin typeface="Calibri"/>
              <a:ea typeface="Calibri"/>
              <a:cs typeface="Calibri"/>
              <a:sym typeface="Calibri"/>
            </a:endParaRPr>
          </a:p>
        </p:txBody>
      </p:sp>
      <p:sp>
        <p:nvSpPr>
          <p:cNvPr id="163" name="Google Shape;163;p12"/>
          <p:cNvSpPr/>
          <p:nvPr/>
        </p:nvSpPr>
        <p:spPr>
          <a:xfrm>
            <a:off x="4846320" y="1280160"/>
            <a:ext cx="4023360" cy="1508760"/>
          </a:xfrm>
          <a:prstGeom prst="roundRect">
            <a:avLst>
              <a:gd fmla="val 6061" name="adj"/>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
          <p:cNvSpPr/>
          <p:nvPr/>
        </p:nvSpPr>
        <p:spPr>
          <a:xfrm>
            <a:off x="5029200" y="1417320"/>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900" u="none" cap="none" strike="noStrike">
                <a:solidFill>
                  <a:srgbClr val="FFFFFF"/>
                </a:solidFill>
                <a:latin typeface="Calibri"/>
                <a:ea typeface="Calibri"/>
                <a:cs typeface="Calibri"/>
                <a:sym typeface="Calibri"/>
              </a:rPr>
              <a:t>👤  Absence de catégories client</a:t>
            </a:r>
            <a:endParaRPr b="0" i="0" sz="1900" u="none" cap="none" strike="noStrike">
              <a:solidFill>
                <a:schemeClr val="dk1"/>
              </a:solidFill>
              <a:latin typeface="Calibri"/>
              <a:ea typeface="Calibri"/>
              <a:cs typeface="Calibri"/>
              <a:sym typeface="Calibri"/>
            </a:endParaRPr>
          </a:p>
        </p:txBody>
      </p:sp>
      <p:sp>
        <p:nvSpPr>
          <p:cNvPr id="165" name="Google Shape;165;p12"/>
          <p:cNvSpPr/>
          <p:nvPr/>
        </p:nvSpPr>
        <p:spPr>
          <a:xfrm>
            <a:off x="5029200" y="1810512"/>
            <a:ext cx="36576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450" u="none" cap="none" strike="noStrike">
                <a:solidFill>
                  <a:srgbClr val="CADCFC"/>
                </a:solidFill>
                <a:latin typeface="Calibri"/>
                <a:ea typeface="Calibri"/>
                <a:cs typeface="Calibri"/>
                <a:sym typeface="Calibri"/>
              </a:rPr>
              <a:t>Particulier, professionnel, revendeur :</a:t>
            </a:r>
            <a:endParaRPr b="0" i="0" sz="1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150"/>
              <a:buFont typeface="Calibri"/>
              <a:buNone/>
            </a:pPr>
            <a:r>
              <a:rPr b="0" i="0" lang="en-US" sz="1450" u="none" cap="none" strike="noStrike">
                <a:solidFill>
                  <a:srgbClr val="CADCFC"/>
                </a:solidFill>
                <a:latin typeface="Calibri"/>
                <a:ea typeface="Calibri"/>
                <a:cs typeface="Calibri"/>
                <a:sym typeface="Calibri"/>
              </a:rPr>
              <a:t>impossible à distinguer dans les données.</a:t>
            </a:r>
            <a:endParaRPr b="0" i="0" sz="1450" u="none" cap="none" strike="noStrike">
              <a:solidFill>
                <a:schemeClr val="dk1"/>
              </a:solidFill>
              <a:latin typeface="Calibri"/>
              <a:ea typeface="Calibri"/>
              <a:cs typeface="Calibri"/>
              <a:sym typeface="Calibri"/>
            </a:endParaRPr>
          </a:p>
        </p:txBody>
      </p:sp>
      <p:sp>
        <p:nvSpPr>
          <p:cNvPr id="166" name="Google Shape;166;p12"/>
          <p:cNvSpPr/>
          <p:nvPr/>
        </p:nvSpPr>
        <p:spPr>
          <a:xfrm>
            <a:off x="4846320" y="2971800"/>
            <a:ext cx="4023360" cy="1508760"/>
          </a:xfrm>
          <a:prstGeom prst="roundRect">
            <a:avLst>
              <a:gd fmla="val 6061" name="adj"/>
            </a:avLst>
          </a:prstGeom>
          <a:solidFill>
            <a:srgbClr val="6474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
          <p:cNvSpPr/>
          <p:nvPr/>
        </p:nvSpPr>
        <p:spPr>
          <a:xfrm>
            <a:off x="5029200" y="3108960"/>
            <a:ext cx="3657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800" u="none" cap="none" strike="noStrike">
                <a:solidFill>
                  <a:srgbClr val="FFFFFF"/>
                </a:solidFill>
                <a:latin typeface="Calibri"/>
                <a:ea typeface="Calibri"/>
                <a:cs typeface="Calibri"/>
                <a:sym typeface="Calibri"/>
              </a:rPr>
              <a:t>🌍  Données d'acquisition absentes</a:t>
            </a:r>
            <a:endParaRPr b="0" i="0" sz="1800" u="none" cap="none" strike="noStrike">
              <a:solidFill>
                <a:schemeClr val="dk1"/>
              </a:solidFill>
              <a:latin typeface="Calibri"/>
              <a:ea typeface="Calibri"/>
              <a:cs typeface="Calibri"/>
              <a:sym typeface="Calibri"/>
            </a:endParaRPr>
          </a:p>
        </p:txBody>
      </p:sp>
      <p:sp>
        <p:nvSpPr>
          <p:cNvPr id="168" name="Google Shape;168;p12"/>
          <p:cNvSpPr/>
          <p:nvPr/>
        </p:nvSpPr>
        <p:spPr>
          <a:xfrm>
            <a:off x="5029200" y="3502152"/>
            <a:ext cx="36576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0" i="0" lang="en-US" sz="1450" u="none" cap="none" strike="noStrike">
                <a:solidFill>
                  <a:srgbClr val="CADCFC"/>
                </a:solidFill>
                <a:latin typeface="Calibri"/>
                <a:ea typeface="Calibri"/>
                <a:cs typeface="Calibri"/>
                <a:sym typeface="Calibri"/>
              </a:rPr>
              <a:t>On ne sait pas d'où viennent les clients</a:t>
            </a:r>
            <a:endParaRPr b="0" i="0" sz="14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ADCFC"/>
              </a:buClr>
              <a:buSzPts val="1150"/>
              <a:buFont typeface="Calibri"/>
              <a:buNone/>
            </a:pPr>
            <a:r>
              <a:rPr b="0" i="0" lang="en-US" sz="1450" u="none" cap="none" strike="noStrike">
                <a:solidFill>
                  <a:srgbClr val="CADCFC"/>
                </a:solidFill>
                <a:latin typeface="Calibri"/>
                <a:ea typeface="Calibri"/>
                <a:cs typeface="Calibri"/>
                <a:sym typeface="Calibri"/>
              </a:rPr>
              <a:t>ni comment ils ont découvert la boutique.</a:t>
            </a:r>
            <a:endParaRPr b="0" i="0" sz="1450" u="none" cap="none" strike="noStrike">
              <a:solidFill>
                <a:schemeClr val="dk1"/>
              </a:solidFill>
              <a:latin typeface="Calibri"/>
              <a:ea typeface="Calibri"/>
              <a:cs typeface="Calibri"/>
              <a:sym typeface="Calibri"/>
            </a:endParaRPr>
          </a:p>
        </p:txBody>
      </p:sp>
      <p:pic>
        <p:nvPicPr>
          <p:cNvPr id="169" name="Google Shape;169;p12"/>
          <p:cNvPicPr preferRelativeResize="0"/>
          <p:nvPr/>
        </p:nvPicPr>
        <p:blipFill>
          <a:blip r:embed="rId3">
            <a:alphaModFix/>
          </a:blip>
          <a:stretch>
            <a:fillRect/>
          </a:stretch>
        </p:blipFill>
        <p:spPr>
          <a:xfrm>
            <a:off x="864050" y="1508025"/>
            <a:ext cx="436595" cy="320050"/>
          </a:xfrm>
          <a:prstGeom prst="rect">
            <a:avLst/>
          </a:prstGeom>
          <a:noFill/>
          <a:ln>
            <a:noFill/>
          </a:ln>
        </p:spPr>
      </p:pic>
      <p:pic>
        <p:nvPicPr>
          <p:cNvPr id="170" name="Google Shape;170;p12"/>
          <p:cNvPicPr preferRelativeResize="0"/>
          <p:nvPr/>
        </p:nvPicPr>
        <p:blipFill>
          <a:blip r:embed="rId4">
            <a:alphaModFix/>
          </a:blip>
          <a:stretch>
            <a:fillRect/>
          </a:stretch>
        </p:blipFill>
        <p:spPr>
          <a:xfrm>
            <a:off x="810725" y="3082650"/>
            <a:ext cx="436600" cy="436600"/>
          </a:xfrm>
          <a:prstGeom prst="rect">
            <a:avLst/>
          </a:prstGeom>
          <a:solidFill>
            <a:srgbClr val="64748B"/>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75" name="Shape 175"/>
        <p:cNvGrpSpPr/>
        <p:nvPr/>
      </p:nvGrpSpPr>
      <p:grpSpPr>
        <a:xfrm>
          <a:off x="0" y="0"/>
          <a:ext cx="0" cy="0"/>
          <a:chOff x="0" y="0"/>
          <a:chExt cx="0" cy="0"/>
        </a:xfrm>
      </p:grpSpPr>
      <p:sp>
        <p:nvSpPr>
          <p:cNvPr id="176" name="Google Shape;176;p13"/>
          <p:cNvSpPr/>
          <p:nvPr/>
        </p:nvSpPr>
        <p:spPr>
          <a:xfrm>
            <a:off x="548640" y="822960"/>
            <a:ext cx="804672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La décision stratégique centrale est géographique</a:t>
            </a:r>
            <a:endParaRPr b="0" i="0" sz="3000" u="none" cap="none" strike="noStrike">
              <a:solidFill>
                <a:schemeClr val="dk1"/>
              </a:solidFill>
              <a:latin typeface="Calibri"/>
              <a:ea typeface="Calibri"/>
              <a:cs typeface="Calibri"/>
              <a:sym typeface="Calibri"/>
            </a:endParaRPr>
          </a:p>
        </p:txBody>
      </p:sp>
      <p:sp>
        <p:nvSpPr>
          <p:cNvPr id="177" name="Google Shape;177;p13"/>
          <p:cNvSpPr/>
          <p:nvPr/>
        </p:nvSpPr>
        <p:spPr>
          <a:xfrm>
            <a:off x="1097280" y="1691640"/>
            <a:ext cx="6949440" cy="1234440"/>
          </a:xfrm>
          <a:prstGeom prst="roundRect">
            <a:avLst>
              <a:gd fmla="val 8889" name="adj"/>
            </a:avLst>
          </a:prstGeom>
          <a:gradFill>
            <a:gsLst>
              <a:gs pos="0">
                <a:srgbClr val="C6C6C6">
                  <a:alpha val="92156"/>
                </a:srgbClr>
              </a:gs>
              <a:gs pos="100000">
                <a:srgbClr val="858585">
                  <a:alpha val="92156"/>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3"/>
          <p:cNvSpPr/>
          <p:nvPr/>
        </p:nvSpPr>
        <p:spPr>
          <a:xfrm>
            <a:off x="1280160" y="1783080"/>
            <a:ext cx="6583680" cy="10515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400"/>
              <a:buFont typeface="Calibri"/>
              <a:buNone/>
            </a:pPr>
            <a:r>
              <a:rPr b="0" i="1" lang="en-US" sz="1400" u="none" cap="none" strike="noStrike">
                <a:solidFill>
                  <a:srgbClr val="FFFFFF"/>
                </a:solidFill>
                <a:latin typeface="Calibri"/>
                <a:ea typeface="Calibri"/>
                <a:cs typeface="Calibri"/>
                <a:sym typeface="Calibri"/>
              </a:rPr>
              <a:t>« La boutique doit décider si elle consolide son marché britannique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0" i="1" lang="en-US" sz="1400" u="none" cap="none" strike="noStrike">
                <a:solidFill>
                  <a:srgbClr val="FFFFFF"/>
                </a:solidFill>
                <a:latin typeface="Calibri"/>
                <a:ea typeface="Calibri"/>
                <a:cs typeface="Calibri"/>
                <a:sym typeface="Calibri"/>
              </a:rPr>
              <a:t>ou engage une diversification internationale.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0" i="1" lang="en-US" sz="1400" u="none" cap="none" strike="noStrike">
                <a:solidFill>
                  <a:srgbClr val="FFFFFF"/>
                </a:solidFill>
                <a:latin typeface="Calibri"/>
                <a:ea typeface="Calibri"/>
                <a:cs typeface="Calibri"/>
                <a:sym typeface="Calibri"/>
              </a:rPr>
              <a:t>Cette décision conditionne l'ensemble des actions à venir. »</a:t>
            </a:r>
            <a:endParaRPr b="0" i="0" sz="1400" u="none" cap="none" strike="noStrike">
              <a:solidFill>
                <a:schemeClr val="dk1"/>
              </a:solidFill>
              <a:latin typeface="Calibri"/>
              <a:ea typeface="Calibri"/>
              <a:cs typeface="Calibri"/>
              <a:sym typeface="Calibri"/>
            </a:endParaRPr>
          </a:p>
        </p:txBody>
      </p:sp>
      <p:sp>
        <p:nvSpPr>
          <p:cNvPr id="179" name="Google Shape;179;p13"/>
          <p:cNvSpPr/>
          <p:nvPr/>
        </p:nvSpPr>
        <p:spPr>
          <a:xfrm>
            <a:off x="457200" y="3154680"/>
            <a:ext cx="2651760" cy="1508760"/>
          </a:xfrm>
          <a:prstGeom prst="roundRect">
            <a:avLst>
              <a:gd fmla="val 6061" name="adj"/>
            </a:avLst>
          </a:prstGeom>
          <a:solidFill>
            <a:srgbClr val="0891B2">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p:cNvSpPr/>
          <p:nvPr/>
        </p:nvSpPr>
        <p:spPr>
          <a:xfrm>
            <a:off x="594360" y="3246120"/>
            <a:ext cx="384048" cy="384048"/>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
          <p:cNvSpPr/>
          <p:nvPr/>
        </p:nvSpPr>
        <p:spPr>
          <a:xfrm>
            <a:off x="594360"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82" name="Google Shape;182;p13"/>
          <p:cNvSpPr/>
          <p:nvPr/>
        </p:nvSpPr>
        <p:spPr>
          <a:xfrm>
            <a:off x="1051550" y="3273549"/>
            <a:ext cx="1965900" cy="44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u="none" cap="none" strike="noStrike">
                <a:solidFill>
                  <a:srgbClr val="FFFFFF"/>
                </a:solidFill>
                <a:latin typeface="Calibri"/>
                <a:ea typeface="Calibri"/>
                <a:cs typeface="Calibri"/>
                <a:sym typeface="Calibri"/>
              </a:rPr>
              <a:t>Sécuriser les produits phares</a:t>
            </a:r>
            <a:endParaRPr b="0" i="0" u="none" cap="none" strike="noStrike">
              <a:solidFill>
                <a:schemeClr val="dk1"/>
              </a:solidFill>
              <a:latin typeface="Calibri"/>
              <a:ea typeface="Calibri"/>
              <a:cs typeface="Calibri"/>
              <a:sym typeface="Calibri"/>
            </a:endParaRPr>
          </a:p>
        </p:txBody>
      </p:sp>
      <p:sp>
        <p:nvSpPr>
          <p:cNvPr id="183" name="Google Shape;183;p13"/>
          <p:cNvSpPr/>
          <p:nvPr/>
        </p:nvSpPr>
        <p:spPr>
          <a:xfrm>
            <a:off x="594360" y="3657600"/>
            <a:ext cx="2423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50"/>
              <a:buFont typeface="Calibri"/>
              <a:buNone/>
            </a:pPr>
            <a:r>
              <a:rPr b="0" i="0" lang="en-US" sz="1250" u="none" cap="none" strike="noStrike">
                <a:solidFill>
                  <a:srgbClr val="CADCFC"/>
                </a:solidFill>
                <a:latin typeface="Calibri"/>
                <a:ea typeface="Calibri"/>
                <a:cs typeface="Calibri"/>
                <a:sym typeface="Calibri"/>
              </a:rPr>
              <a:t>Investiguer REGENCY CAKESTAND + tester PICNIC BASKET</a:t>
            </a:r>
            <a:endParaRPr b="0" i="0" sz="1250" u="none" cap="none" strike="noStrike">
              <a:solidFill>
                <a:schemeClr val="dk1"/>
              </a:solidFill>
              <a:latin typeface="Calibri"/>
              <a:ea typeface="Calibri"/>
              <a:cs typeface="Calibri"/>
              <a:sym typeface="Calibri"/>
            </a:endParaRPr>
          </a:p>
        </p:txBody>
      </p:sp>
      <p:sp>
        <p:nvSpPr>
          <p:cNvPr id="184" name="Google Shape;184;p13"/>
          <p:cNvSpPr/>
          <p:nvPr/>
        </p:nvSpPr>
        <p:spPr>
          <a:xfrm>
            <a:off x="3291840" y="3154680"/>
            <a:ext cx="2651760" cy="1508760"/>
          </a:xfrm>
          <a:prstGeom prst="roundRect">
            <a:avLst>
              <a:gd fmla="val 6061" name="adj"/>
            </a:avLst>
          </a:prstGeom>
          <a:solidFill>
            <a:srgbClr val="0891B2">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3"/>
          <p:cNvSpPr/>
          <p:nvPr/>
        </p:nvSpPr>
        <p:spPr>
          <a:xfrm>
            <a:off x="3429000" y="3246120"/>
            <a:ext cx="384048" cy="384048"/>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3"/>
          <p:cNvSpPr/>
          <p:nvPr/>
        </p:nvSpPr>
        <p:spPr>
          <a:xfrm>
            <a:off x="3429000"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87" name="Google Shape;187;p13"/>
          <p:cNvSpPr/>
          <p:nvPr/>
        </p:nvSpPr>
        <p:spPr>
          <a:xfrm>
            <a:off x="3886200" y="3273552"/>
            <a:ext cx="1965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u="none" cap="none" strike="noStrike">
                <a:solidFill>
                  <a:srgbClr val="FFFFFF"/>
                </a:solidFill>
                <a:latin typeface="Calibri"/>
                <a:ea typeface="Calibri"/>
                <a:cs typeface="Calibri"/>
                <a:sym typeface="Calibri"/>
              </a:rPr>
              <a:t>Identifier les clients Unknown</a:t>
            </a:r>
            <a:endParaRPr b="0" i="0" u="none" cap="none" strike="noStrike">
              <a:solidFill>
                <a:schemeClr val="dk1"/>
              </a:solidFill>
              <a:latin typeface="Calibri"/>
              <a:ea typeface="Calibri"/>
              <a:cs typeface="Calibri"/>
              <a:sym typeface="Calibri"/>
            </a:endParaRPr>
          </a:p>
        </p:txBody>
      </p:sp>
      <p:sp>
        <p:nvSpPr>
          <p:cNvPr id="188" name="Google Shape;188;p13"/>
          <p:cNvSpPr/>
          <p:nvPr/>
        </p:nvSpPr>
        <p:spPr>
          <a:xfrm>
            <a:off x="3429000" y="3657600"/>
            <a:ext cx="2423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50"/>
              <a:buFont typeface="Calibri"/>
              <a:buNone/>
            </a:pPr>
            <a:r>
              <a:rPr b="0" i="0" lang="en-US" sz="1250" u="none" cap="none" strike="noStrike">
                <a:solidFill>
                  <a:srgbClr val="CADCFC"/>
                </a:solidFill>
                <a:latin typeface="Calibri"/>
                <a:ea typeface="Calibri"/>
                <a:cs typeface="Calibri"/>
                <a:sym typeface="Calibri"/>
              </a:rPr>
              <a:t>Création de compte obligatoire à la commande</a:t>
            </a:r>
            <a:endParaRPr b="0" i="0" sz="1250" u="none" cap="none" strike="noStrike">
              <a:solidFill>
                <a:schemeClr val="dk1"/>
              </a:solidFill>
              <a:latin typeface="Calibri"/>
              <a:ea typeface="Calibri"/>
              <a:cs typeface="Calibri"/>
              <a:sym typeface="Calibri"/>
            </a:endParaRPr>
          </a:p>
        </p:txBody>
      </p:sp>
      <p:sp>
        <p:nvSpPr>
          <p:cNvPr id="189" name="Google Shape;189;p13"/>
          <p:cNvSpPr/>
          <p:nvPr/>
        </p:nvSpPr>
        <p:spPr>
          <a:xfrm>
            <a:off x="6126480" y="3154680"/>
            <a:ext cx="2651760" cy="1508760"/>
          </a:xfrm>
          <a:prstGeom prst="roundRect">
            <a:avLst>
              <a:gd fmla="val 6061" name="adj"/>
            </a:avLst>
          </a:prstGeom>
          <a:solidFill>
            <a:srgbClr val="0891B2">
              <a:alpha val="8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3"/>
          <p:cNvSpPr/>
          <p:nvPr/>
        </p:nvSpPr>
        <p:spPr>
          <a:xfrm>
            <a:off x="6263640" y="3246120"/>
            <a:ext cx="384048" cy="384048"/>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3"/>
          <p:cNvSpPr/>
          <p:nvPr/>
        </p:nvSpPr>
        <p:spPr>
          <a:xfrm>
            <a:off x="6263640" y="324612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92" name="Google Shape;192;p13"/>
          <p:cNvSpPr/>
          <p:nvPr/>
        </p:nvSpPr>
        <p:spPr>
          <a:xfrm>
            <a:off x="6720840" y="3273552"/>
            <a:ext cx="19659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u="none" cap="none" strike="noStrike">
                <a:solidFill>
                  <a:srgbClr val="FFFFFF"/>
                </a:solidFill>
                <a:latin typeface="Calibri"/>
                <a:ea typeface="Calibri"/>
                <a:cs typeface="Calibri"/>
                <a:sym typeface="Calibri"/>
              </a:rPr>
              <a:t>Choisir une direction géographique</a:t>
            </a:r>
            <a:endParaRPr b="0" i="0" u="none" cap="none" strike="noStrike">
              <a:solidFill>
                <a:schemeClr val="dk1"/>
              </a:solidFill>
              <a:latin typeface="Calibri"/>
              <a:ea typeface="Calibri"/>
              <a:cs typeface="Calibri"/>
              <a:sym typeface="Calibri"/>
            </a:endParaRPr>
          </a:p>
        </p:txBody>
      </p:sp>
      <p:sp>
        <p:nvSpPr>
          <p:cNvPr id="193" name="Google Shape;193;p13"/>
          <p:cNvSpPr/>
          <p:nvPr/>
        </p:nvSpPr>
        <p:spPr>
          <a:xfrm>
            <a:off x="6263640" y="3657600"/>
            <a:ext cx="2423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50"/>
              <a:buFont typeface="Calibri"/>
              <a:buNone/>
            </a:pPr>
            <a:r>
              <a:rPr b="0" i="0" lang="en-US" sz="1250" u="none" cap="none" strike="noStrike">
                <a:solidFill>
                  <a:srgbClr val="CADCFC"/>
                </a:solidFill>
                <a:latin typeface="Calibri"/>
                <a:ea typeface="Calibri"/>
                <a:cs typeface="Calibri"/>
                <a:sym typeface="Calibri"/>
              </a:rPr>
              <a:t>UK consolidation ou diversification internationale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